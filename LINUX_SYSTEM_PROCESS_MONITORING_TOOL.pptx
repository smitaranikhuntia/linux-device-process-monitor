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rgbClr val="EBF5F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EBF5F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EBF5F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EBF5F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6144" y="505961"/>
            <a:ext cx="12630021" cy="2103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rgbClr val="EBF5F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25" y="2869455"/>
            <a:ext cx="17764594" cy="5358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EBF5F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jpg"/><Relationship Id="rId12" Type="http://schemas.openxmlformats.org/officeDocument/2006/relationships/image" Target="../media/image35.jpg"/><Relationship Id="rId13" Type="http://schemas.openxmlformats.org/officeDocument/2006/relationships/image" Target="../media/image36.jpg"/><Relationship Id="rId14" Type="http://schemas.openxmlformats.org/officeDocument/2006/relationships/image" Target="../media/image37.jpg"/><Relationship Id="rId15" Type="http://schemas.openxmlformats.org/officeDocument/2006/relationships/image" Target="../media/image38.jpg"/><Relationship Id="rId16" Type="http://schemas.openxmlformats.org/officeDocument/2006/relationships/image" Target="../media/image39.jpg"/><Relationship Id="rId17" Type="http://schemas.openxmlformats.org/officeDocument/2006/relationships/image" Target="../media/image40.jpg"/><Relationship Id="rId18" Type="http://schemas.openxmlformats.org/officeDocument/2006/relationships/image" Target="../media/image41.jpg"/><Relationship Id="rId19" Type="http://schemas.openxmlformats.org/officeDocument/2006/relationships/image" Target="../media/image42.jpg"/><Relationship Id="rId20" Type="http://schemas.openxmlformats.org/officeDocument/2006/relationships/image" Target="../media/image43.jpg"/><Relationship Id="rId21" Type="http://schemas.openxmlformats.org/officeDocument/2006/relationships/image" Target="../media/image44.jpg"/><Relationship Id="rId22" Type="http://schemas.openxmlformats.org/officeDocument/2006/relationships/image" Target="../media/image45.jpg"/><Relationship Id="rId23" Type="http://schemas.openxmlformats.org/officeDocument/2006/relationships/image" Target="../media/image4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5294" y="0"/>
              <a:ext cx="7322705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88076" y="879335"/>
              <a:ext cx="6372339" cy="88966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4661672" cy="10157345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-12700" y="2071026"/>
            <a:ext cx="11158220" cy="514032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5"/>
              </a:spcBef>
            </a:pPr>
            <a:r>
              <a:rPr dirty="0" sz="9600" spc="-185">
                <a:latin typeface="Lucida Sans Unicode"/>
                <a:cs typeface="Lucida Sans Unicode"/>
              </a:rPr>
              <a:t>L</a:t>
            </a:r>
            <a:r>
              <a:rPr dirty="0" sz="9600" spc="-204">
                <a:latin typeface="Lucida Sans Unicode"/>
                <a:cs typeface="Lucida Sans Unicode"/>
              </a:rPr>
              <a:t>I</a:t>
            </a:r>
            <a:r>
              <a:rPr dirty="0" sz="9600" spc="-200">
                <a:latin typeface="Lucida Sans Unicode"/>
                <a:cs typeface="Lucida Sans Unicode"/>
              </a:rPr>
              <a:t>N</a:t>
            </a:r>
            <a:r>
              <a:rPr dirty="0" sz="9600" spc="-265">
                <a:latin typeface="Lucida Sans Unicode"/>
                <a:cs typeface="Lucida Sans Unicode"/>
              </a:rPr>
              <a:t>U</a:t>
            </a:r>
            <a:r>
              <a:rPr dirty="0" sz="9600" spc="240">
                <a:latin typeface="Lucida Sans Unicode"/>
                <a:cs typeface="Lucida Sans Unicode"/>
              </a:rPr>
              <a:t>X</a:t>
            </a:r>
            <a:r>
              <a:rPr dirty="0" sz="9600" spc="-1960">
                <a:latin typeface="Lucida Sans Unicode"/>
                <a:cs typeface="Lucida Sans Unicode"/>
              </a:rPr>
              <a:t> </a:t>
            </a:r>
            <a:r>
              <a:rPr dirty="0" sz="9600" spc="-275">
                <a:latin typeface="Lucida Sans Unicode"/>
                <a:cs typeface="Lucida Sans Unicode"/>
              </a:rPr>
              <a:t>S</a:t>
            </a:r>
            <a:r>
              <a:rPr dirty="0" sz="9600" spc="-360">
                <a:latin typeface="Lucida Sans Unicode"/>
                <a:cs typeface="Lucida Sans Unicode"/>
              </a:rPr>
              <a:t>Y</a:t>
            </a:r>
            <a:r>
              <a:rPr dirty="0" sz="9600" spc="-215">
                <a:latin typeface="Lucida Sans Unicode"/>
                <a:cs typeface="Lucida Sans Unicode"/>
              </a:rPr>
              <a:t>S</a:t>
            </a:r>
            <a:r>
              <a:rPr dirty="0" sz="9600" spc="30">
                <a:latin typeface="Lucida Sans Unicode"/>
                <a:cs typeface="Lucida Sans Unicode"/>
              </a:rPr>
              <a:t>T</a:t>
            </a:r>
            <a:r>
              <a:rPr dirty="0" sz="9600" spc="75">
                <a:latin typeface="Lucida Sans Unicode"/>
                <a:cs typeface="Lucida Sans Unicode"/>
              </a:rPr>
              <a:t>E</a:t>
            </a:r>
            <a:r>
              <a:rPr dirty="0" sz="9600" spc="480">
                <a:latin typeface="Lucida Sans Unicode"/>
                <a:cs typeface="Lucida Sans Unicode"/>
              </a:rPr>
              <a:t>M</a:t>
            </a:r>
            <a:r>
              <a:rPr dirty="0" sz="9600" spc="-1495">
                <a:latin typeface="Lucida Sans Unicode"/>
                <a:cs typeface="Lucida Sans Unicode"/>
              </a:rPr>
              <a:t> </a:t>
            </a:r>
            <a:r>
              <a:rPr dirty="0" sz="9600" spc="15">
                <a:latin typeface="Lucida Sans Unicode"/>
                <a:cs typeface="Lucida Sans Unicode"/>
              </a:rPr>
              <a:t>&amp; </a:t>
            </a:r>
            <a:r>
              <a:rPr dirty="0" sz="9600" spc="365">
                <a:latin typeface="Lucida Sans Unicode"/>
                <a:cs typeface="Lucida Sans Unicode"/>
              </a:rPr>
              <a:t>P</a:t>
            </a:r>
            <a:r>
              <a:rPr dirty="0" sz="9600" spc="254">
                <a:latin typeface="Lucida Sans Unicode"/>
                <a:cs typeface="Lucida Sans Unicode"/>
              </a:rPr>
              <a:t>R</a:t>
            </a:r>
            <a:r>
              <a:rPr dirty="0" sz="9600" spc="340">
                <a:latin typeface="Lucida Sans Unicode"/>
                <a:cs typeface="Lucida Sans Unicode"/>
              </a:rPr>
              <a:t>O</a:t>
            </a:r>
            <a:r>
              <a:rPr dirty="0" sz="9600" spc="375">
                <a:latin typeface="Lucida Sans Unicode"/>
                <a:cs typeface="Lucida Sans Unicode"/>
              </a:rPr>
              <a:t>C</a:t>
            </a:r>
            <a:r>
              <a:rPr dirty="0" sz="9600" spc="275">
                <a:latin typeface="Lucida Sans Unicode"/>
                <a:cs typeface="Lucida Sans Unicode"/>
              </a:rPr>
              <a:t>E</a:t>
            </a:r>
            <a:r>
              <a:rPr dirty="0" sz="9600" spc="380">
                <a:latin typeface="Lucida Sans Unicode"/>
                <a:cs typeface="Lucida Sans Unicode"/>
              </a:rPr>
              <a:t>S</a:t>
            </a:r>
            <a:r>
              <a:rPr dirty="0" sz="9600" spc="755">
                <a:latin typeface="Lucida Sans Unicode"/>
                <a:cs typeface="Lucida Sans Unicode"/>
              </a:rPr>
              <a:t>S</a:t>
            </a:r>
            <a:r>
              <a:rPr dirty="0" sz="9600" spc="390">
                <a:latin typeface="Lucida Sans Unicode"/>
                <a:cs typeface="Lucida Sans Unicode"/>
              </a:rPr>
              <a:t> </a:t>
            </a:r>
            <a:r>
              <a:rPr dirty="0" sz="9600" spc="-75">
                <a:latin typeface="Lucida Sans Unicode"/>
                <a:cs typeface="Lucida Sans Unicode"/>
              </a:rPr>
              <a:t>M</a:t>
            </a:r>
            <a:r>
              <a:rPr dirty="0" sz="9600" spc="-70">
                <a:latin typeface="Lucida Sans Unicode"/>
                <a:cs typeface="Lucida Sans Unicode"/>
              </a:rPr>
              <a:t>O</a:t>
            </a:r>
            <a:r>
              <a:rPr dirty="0" sz="9600" spc="-95">
                <a:latin typeface="Lucida Sans Unicode"/>
                <a:cs typeface="Lucida Sans Unicode"/>
              </a:rPr>
              <a:t>N</a:t>
            </a:r>
            <a:r>
              <a:rPr dirty="0" sz="9600" spc="-100">
                <a:latin typeface="Lucida Sans Unicode"/>
                <a:cs typeface="Lucida Sans Unicode"/>
              </a:rPr>
              <a:t>I</a:t>
            </a:r>
            <a:r>
              <a:rPr dirty="0" sz="9600" spc="-580">
                <a:latin typeface="Lucida Sans Unicode"/>
                <a:cs typeface="Lucida Sans Unicode"/>
              </a:rPr>
              <a:t>T</a:t>
            </a:r>
            <a:r>
              <a:rPr dirty="0" sz="9600" spc="-70">
                <a:latin typeface="Lucida Sans Unicode"/>
                <a:cs typeface="Lucida Sans Unicode"/>
              </a:rPr>
              <a:t>O</a:t>
            </a:r>
            <a:r>
              <a:rPr dirty="0" sz="9600" spc="-75">
                <a:latin typeface="Lucida Sans Unicode"/>
                <a:cs typeface="Lucida Sans Unicode"/>
              </a:rPr>
              <a:t>R</a:t>
            </a:r>
            <a:r>
              <a:rPr dirty="0" sz="9600" spc="-100">
                <a:latin typeface="Lucida Sans Unicode"/>
                <a:cs typeface="Lucida Sans Unicode"/>
              </a:rPr>
              <a:t>I</a:t>
            </a:r>
            <a:r>
              <a:rPr dirty="0" sz="9600" spc="-95">
                <a:latin typeface="Lucida Sans Unicode"/>
                <a:cs typeface="Lucida Sans Unicode"/>
              </a:rPr>
              <a:t>N</a:t>
            </a:r>
            <a:r>
              <a:rPr dirty="0" sz="9600" spc="1055">
                <a:latin typeface="Lucida Sans Unicode"/>
                <a:cs typeface="Lucida Sans Unicode"/>
              </a:rPr>
              <a:t>G</a:t>
            </a:r>
            <a:r>
              <a:rPr dirty="0" sz="9600" spc="-580">
                <a:latin typeface="Lucida Sans Unicode"/>
                <a:cs typeface="Lucida Sans Unicode"/>
              </a:rPr>
              <a:t>T</a:t>
            </a:r>
            <a:r>
              <a:rPr dirty="0" sz="9600" spc="-70">
                <a:latin typeface="Lucida Sans Unicode"/>
                <a:cs typeface="Lucida Sans Unicode"/>
              </a:rPr>
              <a:t>OO</a:t>
            </a:r>
            <a:r>
              <a:rPr dirty="0" sz="9600" spc="345">
                <a:latin typeface="Lucida Sans Unicode"/>
                <a:cs typeface="Lucida Sans Unicode"/>
              </a:rPr>
              <a:t>L</a:t>
            </a:r>
            <a:endParaRPr sz="9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15250413" y="7791463"/>
              <a:ext cx="3037840" cy="622300"/>
            </a:xfrm>
            <a:custGeom>
              <a:avLst/>
              <a:gdLst/>
              <a:ahLst/>
              <a:cxnLst/>
              <a:rect l="l" t="t" r="r" b="b"/>
              <a:pathLst>
                <a:path w="3037840" h="622300">
                  <a:moveTo>
                    <a:pt x="873505" y="417842"/>
                  </a:moveTo>
                  <a:lnTo>
                    <a:pt x="833723" y="426027"/>
                  </a:lnTo>
                  <a:lnTo>
                    <a:pt x="801750" y="447967"/>
                  </a:lnTo>
                  <a:lnTo>
                    <a:pt x="779954" y="480545"/>
                  </a:lnTo>
                  <a:lnTo>
                    <a:pt x="771778" y="520001"/>
                  </a:lnTo>
                  <a:lnTo>
                    <a:pt x="773851" y="540284"/>
                  </a:lnTo>
                  <a:lnTo>
                    <a:pt x="773908" y="540836"/>
                  </a:lnTo>
                  <a:lnTo>
                    <a:pt x="779954" y="559954"/>
                  </a:lnTo>
                  <a:lnTo>
                    <a:pt x="789304" y="576922"/>
                  </a:lnTo>
                  <a:lnTo>
                    <a:pt x="789406" y="577106"/>
                  </a:lnTo>
                  <a:lnTo>
                    <a:pt x="816820" y="604492"/>
                  </a:lnTo>
                  <a:lnTo>
                    <a:pt x="853293" y="620044"/>
                  </a:lnTo>
                  <a:lnTo>
                    <a:pt x="873505" y="622172"/>
                  </a:lnTo>
                  <a:lnTo>
                    <a:pt x="894254" y="620044"/>
                  </a:lnTo>
                  <a:lnTo>
                    <a:pt x="913288" y="613987"/>
                  </a:lnTo>
                  <a:lnTo>
                    <a:pt x="930370" y="604492"/>
                  </a:lnTo>
                  <a:lnTo>
                    <a:pt x="945260" y="592048"/>
                  </a:lnTo>
                  <a:lnTo>
                    <a:pt x="951676" y="584187"/>
                  </a:lnTo>
                  <a:lnTo>
                    <a:pt x="874775" y="584187"/>
                  </a:lnTo>
                  <a:lnTo>
                    <a:pt x="862385" y="582979"/>
                  </a:lnTo>
                  <a:lnTo>
                    <a:pt x="822666" y="556312"/>
                  </a:lnTo>
                  <a:lnTo>
                    <a:pt x="812164" y="521322"/>
                  </a:lnTo>
                  <a:lnTo>
                    <a:pt x="813379" y="508835"/>
                  </a:lnTo>
                  <a:lnTo>
                    <a:pt x="839985" y="468940"/>
                  </a:lnTo>
                  <a:lnTo>
                    <a:pt x="874775" y="458444"/>
                  </a:lnTo>
                  <a:lnTo>
                    <a:pt x="954826" y="458444"/>
                  </a:lnTo>
                  <a:lnTo>
                    <a:pt x="953007" y="455828"/>
                  </a:lnTo>
                  <a:lnTo>
                    <a:pt x="979086" y="429628"/>
                  </a:lnTo>
                  <a:lnTo>
                    <a:pt x="921765" y="429628"/>
                  </a:lnTo>
                  <a:lnTo>
                    <a:pt x="910546" y="424470"/>
                  </a:lnTo>
                  <a:lnTo>
                    <a:pt x="898588" y="420787"/>
                  </a:lnTo>
                  <a:lnTo>
                    <a:pt x="886154" y="418578"/>
                  </a:lnTo>
                  <a:lnTo>
                    <a:pt x="873505" y="417842"/>
                  </a:lnTo>
                  <a:close/>
                </a:path>
                <a:path w="3037840" h="622300">
                  <a:moveTo>
                    <a:pt x="954826" y="458444"/>
                  </a:moveTo>
                  <a:lnTo>
                    <a:pt x="874775" y="458444"/>
                  </a:lnTo>
                  <a:lnTo>
                    <a:pt x="887237" y="459650"/>
                  </a:lnTo>
                  <a:lnTo>
                    <a:pt x="898937" y="463189"/>
                  </a:lnTo>
                  <a:lnTo>
                    <a:pt x="932148" y="496100"/>
                  </a:lnTo>
                  <a:lnTo>
                    <a:pt x="937386" y="521322"/>
                  </a:lnTo>
                  <a:lnTo>
                    <a:pt x="936190" y="533801"/>
                  </a:lnTo>
                  <a:lnTo>
                    <a:pt x="909637" y="573685"/>
                  </a:lnTo>
                  <a:lnTo>
                    <a:pt x="874775" y="584187"/>
                  </a:lnTo>
                  <a:lnTo>
                    <a:pt x="951676" y="584187"/>
                  </a:lnTo>
                  <a:lnTo>
                    <a:pt x="957605" y="576922"/>
                  </a:lnTo>
                  <a:lnTo>
                    <a:pt x="967057" y="559463"/>
                  </a:lnTo>
                  <a:lnTo>
                    <a:pt x="973103" y="540284"/>
                  </a:lnTo>
                  <a:lnTo>
                    <a:pt x="975232" y="520001"/>
                  </a:lnTo>
                  <a:lnTo>
                    <a:pt x="973778" y="501871"/>
                  </a:lnTo>
                  <a:lnTo>
                    <a:pt x="969502" y="484966"/>
                  </a:lnTo>
                  <a:lnTo>
                    <a:pt x="962534" y="469536"/>
                  </a:lnTo>
                  <a:lnTo>
                    <a:pt x="954826" y="458444"/>
                  </a:lnTo>
                  <a:close/>
                </a:path>
                <a:path w="3037840" h="622300">
                  <a:moveTo>
                    <a:pt x="3037585" y="189928"/>
                  </a:moveTo>
                  <a:lnTo>
                    <a:pt x="0" y="189928"/>
                  </a:lnTo>
                  <a:lnTo>
                    <a:pt x="0" y="227914"/>
                  </a:lnTo>
                  <a:lnTo>
                    <a:pt x="1122552" y="227914"/>
                  </a:lnTo>
                  <a:lnTo>
                    <a:pt x="921765" y="429628"/>
                  </a:lnTo>
                  <a:lnTo>
                    <a:pt x="979086" y="429628"/>
                  </a:lnTo>
                  <a:lnTo>
                    <a:pt x="1178559" y="229222"/>
                  </a:lnTo>
                  <a:lnTo>
                    <a:pt x="3037585" y="229222"/>
                  </a:lnTo>
                  <a:lnTo>
                    <a:pt x="3037585" y="189928"/>
                  </a:lnTo>
                  <a:close/>
                </a:path>
                <a:path w="3037840" h="622300">
                  <a:moveTo>
                    <a:pt x="3037585" y="0"/>
                  </a:moveTo>
                  <a:lnTo>
                    <a:pt x="2250312" y="0"/>
                  </a:lnTo>
                  <a:lnTo>
                    <a:pt x="2061209" y="189928"/>
                  </a:lnTo>
                  <a:lnTo>
                    <a:pt x="2115946" y="189928"/>
                  </a:lnTo>
                  <a:lnTo>
                    <a:pt x="2267203" y="39293"/>
                  </a:lnTo>
                  <a:lnTo>
                    <a:pt x="3037585" y="39293"/>
                  </a:lnTo>
                  <a:lnTo>
                    <a:pt x="3037585" y="0"/>
                  </a:lnTo>
                  <a:close/>
                </a:path>
              </a:pathLst>
            </a:custGeom>
            <a:solidFill>
              <a:srgbClr val="40AAE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22855" y="1888490"/>
              <a:ext cx="4065142" cy="21971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88490"/>
            <a:ext cx="3945673" cy="21971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554941" y="2079180"/>
            <a:ext cx="6417310" cy="102743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50" spc="-635"/>
              <a:t>I</a:t>
            </a:r>
            <a:r>
              <a:rPr dirty="0" sz="6550" spc="-605"/>
              <a:t>NT</a:t>
            </a:r>
            <a:r>
              <a:rPr dirty="0" sz="6550" spc="-680"/>
              <a:t>R</a:t>
            </a:r>
            <a:r>
              <a:rPr dirty="0" sz="6550" spc="-575"/>
              <a:t>O</a:t>
            </a:r>
            <a:r>
              <a:rPr dirty="0" sz="6550" spc="-580"/>
              <a:t>D</a:t>
            </a:r>
            <a:r>
              <a:rPr dirty="0" sz="6550" spc="-615"/>
              <a:t>U</a:t>
            </a:r>
            <a:r>
              <a:rPr dirty="0" sz="6550" spc="-810"/>
              <a:t>C</a:t>
            </a:r>
            <a:r>
              <a:rPr dirty="0" sz="6550" spc="-605"/>
              <a:t>T</a:t>
            </a:r>
            <a:r>
              <a:rPr dirty="0" sz="6550" spc="-635"/>
              <a:t>I</a:t>
            </a:r>
            <a:r>
              <a:rPr dirty="0" sz="6550" spc="-575"/>
              <a:t>O</a:t>
            </a:r>
            <a:r>
              <a:rPr dirty="0" sz="6550" spc="-270"/>
              <a:t>N</a:t>
            </a:r>
            <a:endParaRPr sz="6550"/>
          </a:p>
        </p:txBody>
      </p:sp>
      <p:sp>
        <p:nvSpPr>
          <p:cNvPr id="7" name="object 7"/>
          <p:cNvSpPr txBox="1"/>
          <p:nvPr/>
        </p:nvSpPr>
        <p:spPr>
          <a:xfrm>
            <a:off x="2079650" y="4454207"/>
            <a:ext cx="14142719" cy="36563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5100"/>
              </a:lnSpc>
              <a:spcBef>
                <a:spcPts val="95"/>
              </a:spcBef>
            </a:pPr>
            <a:r>
              <a:rPr dirty="0" sz="2300" spc="-30">
                <a:solidFill>
                  <a:srgbClr val="EBF5FE"/>
                </a:solidFill>
                <a:latin typeface="Lucida Sans Unicode"/>
                <a:cs typeface="Lucida Sans Unicode"/>
              </a:rPr>
              <a:t>Linux</a:t>
            </a:r>
            <a:r>
              <a:rPr dirty="0" sz="2300" spc="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is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50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widely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used</a:t>
            </a:r>
            <a:r>
              <a:rPr dirty="0" sz="2300" spc="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operating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designed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75">
                <a:solidFill>
                  <a:srgbClr val="EBF5FE"/>
                </a:solidFill>
                <a:latin typeface="Lucida Sans Unicode"/>
                <a:cs typeface="Lucida Sans Unicode"/>
              </a:rPr>
              <a:t>to</a:t>
            </a:r>
            <a:r>
              <a:rPr dirty="0" sz="2300" spc="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5">
                <a:solidFill>
                  <a:srgbClr val="EBF5FE"/>
                </a:solidFill>
                <a:latin typeface="Lucida Sans Unicode"/>
                <a:cs typeface="Lucida Sans Unicode"/>
              </a:rPr>
              <a:t>manage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resources,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applications,</a:t>
            </a:r>
            <a:r>
              <a:rPr dirty="0" sz="2300" spc="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30">
                <a:solidFill>
                  <a:srgbClr val="EBF5FE"/>
                </a:solidFill>
                <a:latin typeface="Lucida Sans Unicode"/>
                <a:cs typeface="Lucida Sans Unicode"/>
              </a:rPr>
              <a:t>and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multiple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processes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efficiently.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45">
                <a:solidFill>
                  <a:srgbClr val="EBF5FE"/>
                </a:solidFill>
                <a:latin typeface="Lucida Sans Unicode"/>
                <a:cs typeface="Lucida Sans Unicode"/>
              </a:rPr>
              <a:t>Effective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300" spc="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5">
                <a:solidFill>
                  <a:srgbClr val="EBF5FE"/>
                </a:solidFill>
                <a:latin typeface="Lucida Sans Unicode"/>
                <a:cs typeface="Lucida Sans Unicode"/>
              </a:rPr>
              <a:t>of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0">
                <a:solidFill>
                  <a:srgbClr val="EBF5FE"/>
                </a:solidFill>
                <a:latin typeface="Lucida Sans Unicode"/>
                <a:cs typeface="Lucida Sans Unicode"/>
              </a:rPr>
              <a:t>these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resources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is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essential</a:t>
            </a:r>
            <a:r>
              <a:rPr dirty="0" sz="2300" spc="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for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EBF5FE"/>
                </a:solidFill>
                <a:latin typeface="Lucida Sans Unicode"/>
                <a:cs typeface="Lucida Sans Unicode"/>
              </a:rPr>
              <a:t>maintaining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00" spc="-2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45">
                <a:solidFill>
                  <a:srgbClr val="EBF5FE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300" spc="-28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5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300" spc="-28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EBF5FE"/>
                </a:solidFill>
                <a:latin typeface="Lucida Sans Unicode"/>
                <a:cs typeface="Lucida Sans Unicode"/>
              </a:rPr>
              <a:t>identifying</a:t>
            </a:r>
            <a:r>
              <a:rPr dirty="0" sz="2300" spc="-28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potential</a:t>
            </a:r>
            <a:r>
              <a:rPr dirty="0" sz="2300" spc="-28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EBF5FE"/>
                </a:solidFill>
                <a:latin typeface="Lucida Sans Unicode"/>
                <a:cs typeface="Lucida Sans Unicode"/>
              </a:rPr>
              <a:t>issues.</a:t>
            </a:r>
            <a:endParaRPr sz="23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100"/>
              </a:lnSpc>
              <a:spcBef>
                <a:spcPts val="3175"/>
              </a:spcBef>
            </a:pPr>
            <a:r>
              <a:rPr dirty="0" sz="2300" spc="20">
                <a:solidFill>
                  <a:srgbClr val="EBF5FE"/>
                </a:solidFill>
                <a:latin typeface="Lucida Sans Unicode"/>
                <a:cs typeface="Lucida Sans Unicode"/>
              </a:rPr>
              <a:t>The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65">
                <a:solidFill>
                  <a:srgbClr val="EBF5FE"/>
                </a:solidFill>
                <a:latin typeface="Lucida Sans Unicode"/>
                <a:cs typeface="Lucida Sans Unicode"/>
              </a:rPr>
              <a:t>Linux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7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30">
                <a:solidFill>
                  <a:srgbClr val="EBF5FE"/>
                </a:solidFill>
                <a:latin typeface="Lucida Sans Unicode"/>
                <a:cs typeface="Lucida Sans Unicode"/>
              </a:rPr>
              <a:t>&amp;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45">
                <a:solidFill>
                  <a:srgbClr val="EBF5FE"/>
                </a:solidFill>
                <a:latin typeface="Lucida Sans Unicode"/>
                <a:cs typeface="Lucida Sans Unicode"/>
              </a:rPr>
              <a:t>Process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45">
                <a:solidFill>
                  <a:srgbClr val="EBF5FE"/>
                </a:solidFill>
                <a:latin typeface="Lucida Sans Unicode"/>
                <a:cs typeface="Lucida Sans Unicode"/>
              </a:rPr>
              <a:t>Tool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5">
                <a:solidFill>
                  <a:srgbClr val="EBF5FE"/>
                </a:solidFill>
                <a:latin typeface="Lucida Sans Unicode"/>
                <a:cs typeface="Lucida Sans Unicode"/>
              </a:rPr>
              <a:t>is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50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50">
                <a:solidFill>
                  <a:srgbClr val="EBF5FE"/>
                </a:solidFill>
                <a:latin typeface="Lucida Sans Unicode"/>
                <a:cs typeface="Lucida Sans Unicode"/>
              </a:rPr>
              <a:t>C++-</a:t>
            </a:r>
            <a:r>
              <a:rPr dirty="0" sz="2300" spc="50">
                <a:solidFill>
                  <a:srgbClr val="EBF5FE"/>
                </a:solidFill>
                <a:latin typeface="Lucida Sans Unicode"/>
                <a:cs typeface="Lucida Sans Unicode"/>
              </a:rPr>
              <a:t>based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application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30">
                <a:solidFill>
                  <a:srgbClr val="EBF5FE"/>
                </a:solidFill>
                <a:latin typeface="Lucida Sans Unicode"/>
                <a:cs typeface="Lucida Sans Unicode"/>
              </a:rPr>
              <a:t>developed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75">
                <a:solidFill>
                  <a:srgbClr val="EBF5FE"/>
                </a:solidFill>
                <a:latin typeface="Lucida Sans Unicode"/>
                <a:cs typeface="Lucida Sans Unicode"/>
              </a:rPr>
              <a:t>to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monitor</a:t>
            </a:r>
            <a:r>
              <a:rPr dirty="0" sz="2300" spc="-3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4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00" spc="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25">
                <a:solidFill>
                  <a:srgbClr val="EBF5FE"/>
                </a:solidFill>
                <a:latin typeface="Lucida Sans Unicode"/>
                <a:cs typeface="Lucida Sans Unicode"/>
              </a:rPr>
              <a:t>resources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5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EBF5FE"/>
                </a:solidFill>
                <a:latin typeface="Lucida Sans Unicode"/>
                <a:cs typeface="Lucida Sans Unicode"/>
              </a:rPr>
              <a:t>running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35">
                <a:solidFill>
                  <a:srgbClr val="EBF5FE"/>
                </a:solidFill>
                <a:latin typeface="Lucida Sans Unicode"/>
                <a:cs typeface="Lucida Sans Unicode"/>
              </a:rPr>
              <a:t>processes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EBF5FE"/>
                </a:solidFill>
                <a:latin typeface="Lucida Sans Unicode"/>
                <a:cs typeface="Lucida Sans Unicode"/>
              </a:rPr>
              <a:t>in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50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65">
                <a:solidFill>
                  <a:srgbClr val="EBF5FE"/>
                </a:solidFill>
                <a:latin typeface="Lucida Sans Unicode"/>
                <a:cs typeface="Lucida Sans Unicode"/>
              </a:rPr>
              <a:t>Linux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5">
                <a:solidFill>
                  <a:srgbClr val="EBF5FE"/>
                </a:solidFill>
                <a:latin typeface="Lucida Sans Unicode"/>
                <a:cs typeface="Lucida Sans Unicode"/>
              </a:rPr>
              <a:t>environment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">
                <a:solidFill>
                  <a:srgbClr val="EBF5FE"/>
                </a:solidFill>
                <a:latin typeface="Lucida Sans Unicode"/>
                <a:cs typeface="Lucida Sans Unicode"/>
              </a:rPr>
              <a:t>through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50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command-</a:t>
            </a:r>
            <a:r>
              <a:rPr dirty="0" sz="2300" spc="-35">
                <a:solidFill>
                  <a:srgbClr val="EBF5FE"/>
                </a:solidFill>
                <a:latin typeface="Lucida Sans Unicode"/>
                <a:cs typeface="Lucida Sans Unicode"/>
              </a:rPr>
              <a:t>line</a:t>
            </a:r>
            <a:r>
              <a:rPr dirty="0" sz="23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0">
                <a:solidFill>
                  <a:srgbClr val="EBF5FE"/>
                </a:solidFill>
                <a:latin typeface="Lucida Sans Unicode"/>
                <a:cs typeface="Lucida Sans Unicode"/>
              </a:rPr>
              <a:t>interface.</a:t>
            </a:r>
            <a:endParaRPr sz="23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100"/>
              </a:lnSpc>
              <a:spcBef>
                <a:spcPts val="3175"/>
              </a:spcBef>
            </a:pPr>
            <a:r>
              <a:rPr dirty="0" sz="2300" spc="-45">
                <a:solidFill>
                  <a:srgbClr val="EBF5FE"/>
                </a:solidFill>
                <a:latin typeface="Lucida Sans Unicode"/>
                <a:cs typeface="Lucida Sans Unicode"/>
              </a:rPr>
              <a:t>The</a:t>
            </a:r>
            <a:r>
              <a:rPr dirty="0" sz="2300" spc="-114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project</a:t>
            </a:r>
            <a:r>
              <a:rPr dirty="0" sz="230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EBF5FE"/>
                </a:solidFill>
                <a:latin typeface="Lucida Sans Unicode"/>
                <a:cs typeface="Lucida Sans Unicode"/>
              </a:rPr>
              <a:t>provides</a:t>
            </a:r>
            <a:r>
              <a:rPr dirty="0" sz="230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0">
                <a:solidFill>
                  <a:srgbClr val="EBF5FE"/>
                </a:solidFill>
                <a:latin typeface="Lucida Sans Unicode"/>
                <a:cs typeface="Lucida Sans Unicode"/>
              </a:rPr>
              <a:t>information</a:t>
            </a:r>
            <a:r>
              <a:rPr dirty="0" sz="230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related</a:t>
            </a:r>
            <a:r>
              <a:rPr dirty="0" sz="2300" spc="-114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5">
                <a:solidFill>
                  <a:srgbClr val="EBF5FE"/>
                </a:solidFill>
                <a:latin typeface="Lucida Sans Unicode"/>
                <a:cs typeface="Lucida Sans Unicode"/>
              </a:rPr>
              <a:t>to</a:t>
            </a:r>
            <a:r>
              <a:rPr dirty="0" sz="230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0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25">
                <a:solidFill>
                  <a:srgbClr val="EBF5FE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30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30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process</a:t>
            </a:r>
            <a:r>
              <a:rPr dirty="0" sz="2300" spc="-114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EBF5FE"/>
                </a:solidFill>
                <a:latin typeface="Lucida Sans Unicode"/>
                <a:cs typeface="Lucida Sans Unicode"/>
              </a:rPr>
              <a:t>activity,</a:t>
            </a:r>
            <a:r>
              <a:rPr dirty="0" sz="230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5">
                <a:solidFill>
                  <a:srgbClr val="EBF5FE"/>
                </a:solidFill>
                <a:latin typeface="Lucida Sans Unicode"/>
                <a:cs typeface="Lucida Sans Unicode"/>
              </a:rPr>
              <a:t>enabling</a:t>
            </a:r>
            <a:r>
              <a:rPr dirty="0" sz="230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EBF5FE"/>
                </a:solidFill>
                <a:latin typeface="Lucida Sans Unicode"/>
                <a:cs typeface="Lucida Sans Unicode"/>
              </a:rPr>
              <a:t>users </a:t>
            </a:r>
            <a:r>
              <a:rPr dirty="0" sz="2300" spc="75">
                <a:solidFill>
                  <a:srgbClr val="EBF5FE"/>
                </a:solidFill>
                <a:latin typeface="Lucida Sans Unicode"/>
                <a:cs typeface="Lucida Sans Unicode"/>
              </a:rPr>
              <a:t>to</a:t>
            </a:r>
            <a:r>
              <a:rPr dirty="0" sz="2300" spc="-254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observe</a:t>
            </a:r>
            <a:r>
              <a:rPr dirty="0" sz="2300" spc="-254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resource</a:t>
            </a:r>
            <a:r>
              <a:rPr dirty="0" sz="2300" spc="-25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60">
                <a:solidFill>
                  <a:srgbClr val="EBF5FE"/>
                </a:solidFill>
                <a:latin typeface="Lucida Sans Unicode"/>
                <a:cs typeface="Lucida Sans Unicode"/>
              </a:rPr>
              <a:t>utilization</a:t>
            </a:r>
            <a:r>
              <a:rPr dirty="0" sz="2300" spc="-254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5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300" spc="-254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monitor</a:t>
            </a:r>
            <a:r>
              <a:rPr dirty="0" sz="2300" spc="-25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important</a:t>
            </a:r>
            <a:r>
              <a:rPr dirty="0" sz="2300" spc="-254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00" spc="-254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EBF5FE"/>
                </a:solidFill>
                <a:latin typeface="Lucida Sans Unicode"/>
                <a:cs typeface="Lucida Sans Unicode"/>
              </a:rPr>
              <a:t>conditions</a:t>
            </a:r>
            <a:r>
              <a:rPr dirty="0" sz="2300" spc="-25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EBF5FE"/>
                </a:solidFill>
                <a:latin typeface="Lucida Sans Unicode"/>
                <a:cs typeface="Lucida Sans Unicode"/>
              </a:rPr>
              <a:t>efficiently.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0791" y="1039812"/>
              <a:ext cx="7287207" cy="92421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621915"/>
              <a:ext cx="2914650" cy="385445"/>
            </a:xfrm>
            <a:custGeom>
              <a:avLst/>
              <a:gdLst/>
              <a:ahLst/>
              <a:cxnLst/>
              <a:rect l="l" t="t" r="r" b="b"/>
              <a:pathLst>
                <a:path w="2914650" h="385444">
                  <a:moveTo>
                    <a:pt x="2398852" y="271132"/>
                  </a:moveTo>
                  <a:lnTo>
                    <a:pt x="0" y="271132"/>
                  </a:lnTo>
                  <a:lnTo>
                    <a:pt x="0" y="309117"/>
                  </a:lnTo>
                  <a:lnTo>
                    <a:pt x="18142" y="309117"/>
                  </a:lnTo>
                  <a:lnTo>
                    <a:pt x="0" y="327344"/>
                  </a:lnTo>
                  <a:lnTo>
                    <a:pt x="0" y="384977"/>
                  </a:lnTo>
                  <a:lnTo>
                    <a:pt x="74205" y="310426"/>
                  </a:lnTo>
                  <a:lnTo>
                    <a:pt x="2398852" y="310426"/>
                  </a:lnTo>
                  <a:lnTo>
                    <a:pt x="2398852" y="271132"/>
                  </a:lnTo>
                  <a:close/>
                </a:path>
                <a:path w="2914650" h="385444">
                  <a:moveTo>
                    <a:pt x="2813443" y="0"/>
                  </a:moveTo>
                  <a:lnTo>
                    <a:pt x="2773681" y="8185"/>
                  </a:lnTo>
                  <a:lnTo>
                    <a:pt x="2741739" y="30124"/>
                  </a:lnTo>
                  <a:lnTo>
                    <a:pt x="2718452" y="66966"/>
                  </a:lnTo>
                  <a:lnTo>
                    <a:pt x="2714325" y="81330"/>
                  </a:lnTo>
                  <a:lnTo>
                    <a:pt x="1145798" y="81330"/>
                  </a:lnTo>
                  <a:lnTo>
                    <a:pt x="956866" y="271132"/>
                  </a:lnTo>
                  <a:lnTo>
                    <a:pt x="1011624" y="271132"/>
                  </a:lnTo>
                  <a:lnTo>
                    <a:pt x="1162864" y="120497"/>
                  </a:lnTo>
                  <a:lnTo>
                    <a:pt x="2752517" y="120497"/>
                  </a:lnTo>
                  <a:lnTo>
                    <a:pt x="2750763" y="114650"/>
                  </a:lnTo>
                  <a:lnTo>
                    <a:pt x="2749562" y="102171"/>
                  </a:lnTo>
                  <a:lnTo>
                    <a:pt x="2750763" y="89684"/>
                  </a:lnTo>
                  <a:lnTo>
                    <a:pt x="2777306" y="49795"/>
                  </a:lnTo>
                  <a:lnTo>
                    <a:pt x="2812148" y="39293"/>
                  </a:lnTo>
                  <a:lnTo>
                    <a:pt x="2892753" y="39293"/>
                  </a:lnTo>
                  <a:lnTo>
                    <a:pt x="2885147" y="30124"/>
                  </a:lnTo>
                  <a:lnTo>
                    <a:pt x="2870095" y="17680"/>
                  </a:lnTo>
                  <a:lnTo>
                    <a:pt x="2852719" y="8185"/>
                  </a:lnTo>
                  <a:lnTo>
                    <a:pt x="2833632" y="2128"/>
                  </a:lnTo>
                  <a:lnTo>
                    <a:pt x="2813443" y="0"/>
                  </a:lnTo>
                  <a:close/>
                </a:path>
                <a:path w="2914650" h="385444">
                  <a:moveTo>
                    <a:pt x="2752517" y="120497"/>
                  </a:moveTo>
                  <a:lnTo>
                    <a:pt x="2714358" y="120497"/>
                  </a:lnTo>
                  <a:lnTo>
                    <a:pt x="2717718" y="135708"/>
                  </a:lnTo>
                  <a:lnTo>
                    <a:pt x="2741739" y="174205"/>
                  </a:lnTo>
                  <a:lnTo>
                    <a:pt x="2774167" y="196145"/>
                  </a:lnTo>
                  <a:lnTo>
                    <a:pt x="2813443" y="204330"/>
                  </a:lnTo>
                  <a:lnTo>
                    <a:pt x="2834184" y="202202"/>
                  </a:lnTo>
                  <a:lnTo>
                    <a:pt x="2853210" y="196145"/>
                  </a:lnTo>
                  <a:lnTo>
                    <a:pt x="2870279" y="186649"/>
                  </a:lnTo>
                  <a:lnTo>
                    <a:pt x="2885147" y="174205"/>
                  </a:lnTo>
                  <a:lnTo>
                    <a:pt x="2892660" y="165036"/>
                  </a:lnTo>
                  <a:lnTo>
                    <a:pt x="2812148" y="165036"/>
                  </a:lnTo>
                  <a:lnTo>
                    <a:pt x="2799718" y="163828"/>
                  </a:lnTo>
                  <a:lnTo>
                    <a:pt x="2760010" y="137161"/>
                  </a:lnTo>
                  <a:lnTo>
                    <a:pt x="2754286" y="126396"/>
                  </a:lnTo>
                  <a:lnTo>
                    <a:pt x="2752517" y="120497"/>
                  </a:lnTo>
                  <a:close/>
                </a:path>
                <a:path w="2914650" h="385444">
                  <a:moveTo>
                    <a:pt x="2892753" y="39293"/>
                  </a:moveTo>
                  <a:lnTo>
                    <a:pt x="2812148" y="39293"/>
                  </a:lnTo>
                  <a:lnTo>
                    <a:pt x="2824570" y="40501"/>
                  </a:lnTo>
                  <a:lnTo>
                    <a:pt x="2836262" y="44043"/>
                  </a:lnTo>
                  <a:lnTo>
                    <a:pt x="2869996" y="77935"/>
                  </a:lnTo>
                  <a:lnTo>
                    <a:pt x="2874721" y="102171"/>
                  </a:lnTo>
                  <a:lnTo>
                    <a:pt x="2873519" y="114650"/>
                  </a:lnTo>
                  <a:lnTo>
                    <a:pt x="2846977" y="154535"/>
                  </a:lnTo>
                  <a:lnTo>
                    <a:pt x="2812148" y="165036"/>
                  </a:lnTo>
                  <a:lnTo>
                    <a:pt x="2892660" y="165036"/>
                  </a:lnTo>
                  <a:lnTo>
                    <a:pt x="2897539" y="159082"/>
                  </a:lnTo>
                  <a:lnTo>
                    <a:pt x="2906994" y="141627"/>
                  </a:lnTo>
                  <a:lnTo>
                    <a:pt x="2913026" y="122452"/>
                  </a:lnTo>
                  <a:lnTo>
                    <a:pt x="2914649" y="106912"/>
                  </a:lnTo>
                  <a:lnTo>
                    <a:pt x="2914649" y="97299"/>
                  </a:lnTo>
                  <a:lnTo>
                    <a:pt x="2913026" y="81330"/>
                  </a:lnTo>
                  <a:lnTo>
                    <a:pt x="2906994" y="62214"/>
                  </a:lnTo>
                  <a:lnTo>
                    <a:pt x="2897539" y="45064"/>
                  </a:lnTo>
                  <a:lnTo>
                    <a:pt x="2892753" y="39293"/>
                  </a:lnTo>
                  <a:close/>
                </a:path>
              </a:pathLst>
            </a:custGeom>
            <a:solidFill>
              <a:srgbClr val="40AAE1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6325" rIns="0" bIns="0" rtlCol="0" vert="horz">
            <a:spAutoFit/>
          </a:bodyPr>
          <a:lstStyle/>
          <a:p>
            <a:pPr marL="292100">
              <a:lnSpc>
                <a:spcPct val="100000"/>
              </a:lnSpc>
              <a:spcBef>
                <a:spcPts val="110"/>
              </a:spcBef>
            </a:pPr>
            <a:r>
              <a:rPr dirty="0" sz="6650" spc="-695"/>
              <a:t>PROBLEM</a:t>
            </a:r>
            <a:r>
              <a:rPr dirty="0" sz="6650" spc="-1240"/>
              <a:t> </a:t>
            </a:r>
            <a:r>
              <a:rPr dirty="0" sz="6650" spc="-745"/>
              <a:t>STATEMENT</a:t>
            </a:r>
            <a:endParaRPr sz="665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84101" y="1038161"/>
            <a:ext cx="3430270" cy="17907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2925" y="4139189"/>
            <a:ext cx="10468610" cy="3289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3900"/>
              </a:lnSpc>
              <a:spcBef>
                <a:spcPts val="100"/>
              </a:spcBef>
            </a:pPr>
            <a:r>
              <a:rPr dirty="0" sz="2350" spc="5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50" spc="-18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40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55">
                <a:solidFill>
                  <a:srgbClr val="EBF5FE"/>
                </a:solidFill>
                <a:latin typeface="Lucida Sans Unicode"/>
                <a:cs typeface="Lucida Sans Unicode"/>
              </a:rPr>
              <a:t>is</a:t>
            </a:r>
            <a:r>
              <a:rPr dirty="0" sz="2350" spc="-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5">
                <a:solidFill>
                  <a:srgbClr val="EBF5FE"/>
                </a:solidFill>
                <a:latin typeface="Lucida Sans Unicode"/>
                <a:cs typeface="Lucida Sans Unicode"/>
              </a:rPr>
              <a:t>essential</a:t>
            </a:r>
            <a:r>
              <a:rPr dirty="0" sz="235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EBF5FE"/>
                </a:solidFill>
                <a:latin typeface="Lucida Sans Unicode"/>
                <a:cs typeface="Lucida Sans Unicode"/>
              </a:rPr>
              <a:t>for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35">
                <a:solidFill>
                  <a:srgbClr val="EBF5FE"/>
                </a:solidFill>
                <a:latin typeface="Lucida Sans Unicode"/>
                <a:cs typeface="Lucida Sans Unicode"/>
              </a:rPr>
              <a:t>maintaining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35">
                <a:solidFill>
                  <a:srgbClr val="EBF5FE"/>
                </a:solidFill>
                <a:latin typeface="Lucida Sans Unicode"/>
                <a:cs typeface="Lucida Sans Unicode"/>
              </a:rPr>
              <a:t>the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performance,</a:t>
            </a:r>
            <a:r>
              <a:rPr dirty="0" sz="2350" spc="-11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EBF5FE"/>
                </a:solidFill>
                <a:latin typeface="Lucida Sans Unicode"/>
                <a:cs typeface="Lucida Sans Unicode"/>
              </a:rPr>
              <a:t>stability, </a:t>
            </a:r>
            <a:r>
              <a:rPr dirty="0" sz="2350" spc="50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350" spc="5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reliability</a:t>
            </a:r>
            <a:r>
              <a:rPr dirty="0" sz="2350" spc="6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 spc="50">
                <a:solidFill>
                  <a:srgbClr val="EBF5FE"/>
                </a:solidFill>
                <a:latin typeface="Lucida Sans Unicode"/>
                <a:cs typeface="Lucida Sans Unicode"/>
              </a:rPr>
              <a:t>of</a:t>
            </a:r>
            <a:r>
              <a:rPr dirty="0" sz="2350" spc="6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 spc="155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350" spc="6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 spc="-155">
                <a:solidFill>
                  <a:srgbClr val="EBF5FE"/>
                </a:solidFill>
                <a:latin typeface="Lucida Sans Unicode"/>
                <a:cs typeface="Lucida Sans Unicode"/>
              </a:rPr>
              <a:t>Linux-</a:t>
            </a:r>
            <a:r>
              <a:rPr dirty="0" sz="2350" spc="50">
                <a:solidFill>
                  <a:srgbClr val="EBF5FE"/>
                </a:solidFill>
                <a:latin typeface="Lucida Sans Unicode"/>
                <a:cs typeface="Lucida Sans Unicode"/>
              </a:rPr>
              <a:t>based</a:t>
            </a:r>
            <a:r>
              <a:rPr dirty="0" sz="2350" spc="65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environment.</a:t>
            </a:r>
            <a:r>
              <a:rPr dirty="0" sz="2350" spc="6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However,</a:t>
            </a:r>
            <a:r>
              <a:rPr dirty="0" sz="2350" spc="6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 spc="-10">
                <a:solidFill>
                  <a:srgbClr val="EBF5FE"/>
                </a:solidFill>
                <a:latin typeface="Lucida Sans Unicode"/>
                <a:cs typeface="Lucida Sans Unicode"/>
              </a:rPr>
              <a:t>monitoring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different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resources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20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350" spc="-1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55">
                <a:solidFill>
                  <a:srgbClr val="EBF5FE"/>
                </a:solidFill>
                <a:latin typeface="Lucida Sans Unicode"/>
                <a:cs typeface="Lucida Sans Unicode"/>
              </a:rPr>
              <a:t>running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processes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often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5">
                <a:solidFill>
                  <a:srgbClr val="EBF5FE"/>
                </a:solidFill>
                <a:latin typeface="Lucida Sans Unicode"/>
                <a:cs typeface="Lucida Sans Unicode"/>
              </a:rPr>
              <a:t>requires</a:t>
            </a:r>
            <a:r>
              <a:rPr dirty="0" sz="2350" spc="-1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30">
                <a:solidFill>
                  <a:srgbClr val="EBF5FE"/>
                </a:solidFill>
                <a:latin typeface="Lucida Sans Unicode"/>
                <a:cs typeface="Lucida Sans Unicode"/>
              </a:rPr>
              <a:t>the</a:t>
            </a:r>
            <a:r>
              <a:rPr dirty="0" sz="2350" spc="-1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5">
                <a:solidFill>
                  <a:srgbClr val="EBF5FE"/>
                </a:solidFill>
                <a:latin typeface="Lucida Sans Unicode"/>
                <a:cs typeface="Lucida Sans Unicode"/>
              </a:rPr>
              <a:t>use </a:t>
            </a:r>
            <a:r>
              <a:rPr dirty="0" sz="2350" spc="50">
                <a:solidFill>
                  <a:srgbClr val="EBF5FE"/>
                </a:solidFill>
                <a:latin typeface="Lucida Sans Unicode"/>
                <a:cs typeface="Lucida Sans Unicode"/>
              </a:rPr>
              <a:t>of</a:t>
            </a:r>
            <a:r>
              <a:rPr dirty="0" sz="2350" spc="-3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30">
                <a:solidFill>
                  <a:srgbClr val="EBF5FE"/>
                </a:solidFill>
                <a:latin typeface="Lucida Sans Unicode"/>
                <a:cs typeface="Lucida Sans Unicode"/>
              </a:rPr>
              <a:t>multiple</a:t>
            </a:r>
            <a:r>
              <a:rPr dirty="0" sz="2350" spc="-3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0">
                <a:solidFill>
                  <a:srgbClr val="EBF5FE"/>
                </a:solidFill>
                <a:latin typeface="Lucida Sans Unicode"/>
                <a:cs typeface="Lucida Sans Unicode"/>
              </a:rPr>
              <a:t>commands</a:t>
            </a:r>
            <a:r>
              <a:rPr dirty="0" sz="2350" spc="-3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0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350" spc="-3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EBF5FE"/>
                </a:solidFill>
                <a:latin typeface="Lucida Sans Unicode"/>
                <a:cs typeface="Lucida Sans Unicode"/>
              </a:rPr>
              <a:t>utilities.</a:t>
            </a:r>
            <a:endParaRPr sz="23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3900"/>
              </a:lnSpc>
              <a:spcBef>
                <a:spcPts val="3215"/>
              </a:spcBef>
            </a:pP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This</a:t>
            </a:r>
            <a:r>
              <a:rPr dirty="0" sz="2350" spc="18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project</a:t>
            </a:r>
            <a:r>
              <a:rPr dirty="0" sz="2350" spc="18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addresses</a:t>
            </a:r>
            <a:r>
              <a:rPr dirty="0" sz="2350" spc="18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this</a:t>
            </a:r>
            <a:r>
              <a:rPr dirty="0" sz="2350" spc="18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requirement</a:t>
            </a:r>
            <a:r>
              <a:rPr dirty="0" sz="2350" spc="18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 spc="65">
                <a:solidFill>
                  <a:srgbClr val="EBF5FE"/>
                </a:solidFill>
                <a:latin typeface="Lucida Sans Unicode"/>
                <a:cs typeface="Lucida Sans Unicode"/>
              </a:rPr>
              <a:t>by</a:t>
            </a:r>
            <a:r>
              <a:rPr dirty="0" sz="2350" spc="18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developing</a:t>
            </a:r>
            <a:r>
              <a:rPr dirty="0" sz="2350" spc="18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 spc="155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350" spc="180">
                <a:solidFill>
                  <a:srgbClr val="EBF5FE"/>
                </a:solidFill>
                <a:latin typeface="Lucida Sans Unicode"/>
                <a:cs typeface="Lucida Sans Unicode"/>
              </a:rPr>
              <a:t>  </a:t>
            </a:r>
            <a:r>
              <a:rPr dirty="0" sz="2350" spc="-10">
                <a:solidFill>
                  <a:srgbClr val="EBF5FE"/>
                </a:solidFill>
                <a:latin typeface="Lucida Sans Unicode"/>
                <a:cs typeface="Lucida Sans Unicode"/>
              </a:rPr>
              <a:t>unified command-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line</a:t>
            </a:r>
            <a:r>
              <a:rPr dirty="0" sz="2350" spc="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tool</a:t>
            </a:r>
            <a:r>
              <a:rPr dirty="0" sz="2350" spc="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5">
                <a:solidFill>
                  <a:srgbClr val="EBF5FE"/>
                </a:solidFill>
                <a:latin typeface="Lucida Sans Unicode"/>
                <a:cs typeface="Lucida Sans Unicode"/>
              </a:rPr>
              <a:t>that</a:t>
            </a:r>
            <a:r>
              <a:rPr dirty="0" sz="2350" spc="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provides</a:t>
            </a:r>
            <a:r>
              <a:rPr dirty="0" sz="2350" spc="4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350" spc="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resource</a:t>
            </a:r>
            <a:r>
              <a:rPr dirty="0" sz="2350" spc="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5">
                <a:solidFill>
                  <a:srgbClr val="EBF5FE"/>
                </a:solidFill>
                <a:latin typeface="Lucida Sans Unicode"/>
                <a:cs typeface="Lucida Sans Unicode"/>
              </a:rPr>
              <a:t>information,</a:t>
            </a:r>
            <a:r>
              <a:rPr dirty="0" sz="2350" spc="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EBF5FE"/>
                </a:solidFill>
                <a:latin typeface="Lucida Sans Unicode"/>
                <a:cs typeface="Lucida Sans Unicode"/>
              </a:rPr>
              <a:t>process </a:t>
            </a:r>
            <a:r>
              <a:rPr dirty="0" sz="2350" spc="-40">
                <a:solidFill>
                  <a:srgbClr val="EBF5FE"/>
                </a:solidFill>
                <a:latin typeface="Lucida Sans Unicode"/>
                <a:cs typeface="Lucida Sans Unicode"/>
              </a:rPr>
              <a:t>details,</a:t>
            </a:r>
            <a:r>
              <a:rPr dirty="0" sz="2350" spc="-3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0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350" spc="-3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EBF5FE"/>
                </a:solidFill>
                <a:latin typeface="Lucida Sans Unicode"/>
                <a:cs typeface="Lucida Sans Unicode"/>
              </a:rPr>
              <a:t>basic</a:t>
            </a:r>
            <a:r>
              <a:rPr dirty="0" sz="2350" spc="-3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30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350" spc="-3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EBF5FE"/>
                </a:solidFill>
                <a:latin typeface="Lucida Sans Unicode"/>
                <a:cs typeface="Lucida Sans Unicode"/>
              </a:rPr>
              <a:t>capabilities</a:t>
            </a:r>
            <a:r>
              <a:rPr dirty="0" sz="2350" spc="-3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EBF5FE"/>
                </a:solidFill>
                <a:latin typeface="Lucida Sans Unicode"/>
                <a:cs typeface="Lucida Sans Unicode"/>
              </a:rPr>
              <a:t>through</a:t>
            </a:r>
            <a:r>
              <a:rPr dirty="0" sz="2350" spc="-3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55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350" spc="-3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45">
                <a:solidFill>
                  <a:srgbClr val="EBF5FE"/>
                </a:solidFill>
                <a:latin typeface="Lucida Sans Unicode"/>
                <a:cs typeface="Lucida Sans Unicode"/>
              </a:rPr>
              <a:t>single</a:t>
            </a:r>
            <a:r>
              <a:rPr dirty="0" sz="2350" spc="-3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EBF5FE"/>
                </a:solidFill>
                <a:latin typeface="Lucida Sans Unicode"/>
                <a:cs typeface="Lucida Sans Unicode"/>
              </a:rPr>
              <a:t>application.</a:t>
            </a:r>
            <a:endParaRPr sz="2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468220" cy="102745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111" y="1766557"/>
              <a:ext cx="5879373" cy="6794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79989" y="4829720"/>
              <a:ext cx="799465" cy="2665095"/>
            </a:xfrm>
            <a:custGeom>
              <a:avLst/>
              <a:gdLst/>
              <a:ahLst/>
              <a:cxnLst/>
              <a:rect l="l" t="t" r="r" b="b"/>
              <a:pathLst>
                <a:path w="799464" h="2665095">
                  <a:moveTo>
                    <a:pt x="215811" y="0"/>
                  </a:moveTo>
                  <a:lnTo>
                    <a:pt x="0" y="124523"/>
                  </a:lnTo>
                  <a:lnTo>
                    <a:pt x="372973" y="2664955"/>
                  </a:lnTo>
                  <a:lnTo>
                    <a:pt x="588784" y="2550426"/>
                  </a:lnTo>
                  <a:lnTo>
                    <a:pt x="588784" y="1438465"/>
                  </a:lnTo>
                  <a:lnTo>
                    <a:pt x="799185" y="1317053"/>
                  </a:lnTo>
                  <a:lnTo>
                    <a:pt x="215811" y="0"/>
                  </a:lnTo>
                  <a:close/>
                </a:path>
              </a:pathLst>
            </a:custGeom>
            <a:solidFill>
              <a:srgbClr val="1C00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499726" y="4954244"/>
              <a:ext cx="1163955" cy="2550795"/>
            </a:xfrm>
            <a:custGeom>
              <a:avLst/>
              <a:gdLst/>
              <a:ahLst/>
              <a:cxnLst/>
              <a:rect l="l" t="t" r="r" b="b"/>
              <a:pathLst>
                <a:path w="1163954" h="2550795">
                  <a:moveTo>
                    <a:pt x="580351" y="0"/>
                  </a:moveTo>
                  <a:lnTo>
                    <a:pt x="0" y="645464"/>
                  </a:lnTo>
                  <a:lnTo>
                    <a:pt x="195745" y="758444"/>
                  </a:lnTo>
                  <a:lnTo>
                    <a:pt x="195656" y="2113318"/>
                  </a:lnTo>
                  <a:lnTo>
                    <a:pt x="953236" y="2550502"/>
                  </a:lnTo>
                  <a:lnTo>
                    <a:pt x="953236" y="1195717"/>
                  </a:lnTo>
                  <a:lnTo>
                    <a:pt x="1163637" y="1317129"/>
                  </a:lnTo>
                  <a:lnTo>
                    <a:pt x="580351" y="0"/>
                  </a:lnTo>
                  <a:close/>
                </a:path>
              </a:pathLst>
            </a:custGeom>
            <a:solidFill>
              <a:srgbClr val="518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94889" y="3436314"/>
              <a:ext cx="3665220" cy="4089400"/>
            </a:xfrm>
            <a:custGeom>
              <a:avLst/>
              <a:gdLst/>
              <a:ahLst/>
              <a:cxnLst/>
              <a:rect l="l" t="t" r="r" b="b"/>
              <a:pathLst>
                <a:path w="3665220" h="4089400">
                  <a:moveTo>
                    <a:pt x="1772574" y="0"/>
                  </a:moveTo>
                  <a:lnTo>
                    <a:pt x="1678877" y="0"/>
                  </a:lnTo>
                  <a:lnTo>
                    <a:pt x="1633139" y="12700"/>
                  </a:lnTo>
                  <a:lnTo>
                    <a:pt x="1545170" y="38100"/>
                  </a:lnTo>
                  <a:lnTo>
                    <a:pt x="1503451" y="63500"/>
                  </a:lnTo>
                  <a:lnTo>
                    <a:pt x="844880" y="444500"/>
                  </a:lnTo>
                  <a:lnTo>
                    <a:pt x="831291" y="444500"/>
                  </a:lnTo>
                  <a:lnTo>
                    <a:pt x="793764" y="469900"/>
                  </a:lnTo>
                  <a:lnTo>
                    <a:pt x="759326" y="508000"/>
                  </a:lnTo>
                  <a:lnTo>
                    <a:pt x="728070" y="533400"/>
                  </a:lnTo>
                  <a:lnTo>
                    <a:pt x="700088" y="571500"/>
                  </a:lnTo>
                  <a:lnTo>
                    <a:pt x="675470" y="609600"/>
                  </a:lnTo>
                  <a:lnTo>
                    <a:pt x="654309" y="647700"/>
                  </a:lnTo>
                  <a:lnTo>
                    <a:pt x="636696" y="698500"/>
                  </a:lnTo>
                  <a:lnTo>
                    <a:pt x="622724" y="749300"/>
                  </a:lnTo>
                  <a:lnTo>
                    <a:pt x="612485" y="787400"/>
                  </a:lnTo>
                  <a:lnTo>
                    <a:pt x="606069" y="850900"/>
                  </a:lnTo>
                  <a:lnTo>
                    <a:pt x="213677" y="1066800"/>
                  </a:lnTo>
                  <a:lnTo>
                    <a:pt x="210566" y="1079500"/>
                  </a:lnTo>
                  <a:lnTo>
                    <a:pt x="204431" y="1079500"/>
                  </a:lnTo>
                  <a:lnTo>
                    <a:pt x="167143" y="1104900"/>
                  </a:lnTo>
                  <a:lnTo>
                    <a:pt x="133291" y="1130300"/>
                  </a:lnTo>
                  <a:lnTo>
                    <a:pt x="102990" y="1168400"/>
                  </a:lnTo>
                  <a:lnTo>
                    <a:pt x="76356" y="1206500"/>
                  </a:lnTo>
                  <a:lnTo>
                    <a:pt x="53505" y="1244600"/>
                  </a:lnTo>
                  <a:lnTo>
                    <a:pt x="34550" y="1282700"/>
                  </a:lnTo>
                  <a:lnTo>
                    <a:pt x="19607" y="1333500"/>
                  </a:lnTo>
                  <a:lnTo>
                    <a:pt x="8790" y="1384300"/>
                  </a:lnTo>
                  <a:lnTo>
                    <a:pt x="2216" y="1435100"/>
                  </a:lnTo>
                  <a:lnTo>
                    <a:pt x="0" y="1485900"/>
                  </a:lnTo>
                  <a:lnTo>
                    <a:pt x="1334" y="1536700"/>
                  </a:lnTo>
                  <a:lnTo>
                    <a:pt x="5310" y="1587500"/>
                  </a:lnTo>
                  <a:lnTo>
                    <a:pt x="11886" y="1638300"/>
                  </a:lnTo>
                  <a:lnTo>
                    <a:pt x="21021" y="1676400"/>
                  </a:lnTo>
                  <a:lnTo>
                    <a:pt x="32675" y="1727200"/>
                  </a:lnTo>
                  <a:lnTo>
                    <a:pt x="46807" y="1778000"/>
                  </a:lnTo>
                  <a:lnTo>
                    <a:pt x="63375" y="1828800"/>
                  </a:lnTo>
                  <a:lnTo>
                    <a:pt x="82339" y="1879600"/>
                  </a:lnTo>
                  <a:lnTo>
                    <a:pt x="103657" y="1930400"/>
                  </a:lnTo>
                  <a:lnTo>
                    <a:pt x="127289" y="1968500"/>
                  </a:lnTo>
                  <a:lnTo>
                    <a:pt x="153194" y="2019300"/>
                  </a:lnTo>
                  <a:lnTo>
                    <a:pt x="181330" y="2070100"/>
                  </a:lnTo>
                  <a:lnTo>
                    <a:pt x="209753" y="2108200"/>
                  </a:lnTo>
                  <a:lnTo>
                    <a:pt x="239593" y="2159000"/>
                  </a:lnTo>
                  <a:lnTo>
                    <a:pt x="270757" y="2197100"/>
                  </a:lnTo>
                  <a:lnTo>
                    <a:pt x="303149" y="2235200"/>
                  </a:lnTo>
                  <a:lnTo>
                    <a:pt x="336674" y="2273300"/>
                  </a:lnTo>
                  <a:lnTo>
                    <a:pt x="371240" y="2311400"/>
                  </a:lnTo>
                  <a:lnTo>
                    <a:pt x="406750" y="2336800"/>
                  </a:lnTo>
                  <a:lnTo>
                    <a:pt x="443111" y="2374900"/>
                  </a:lnTo>
                  <a:lnTo>
                    <a:pt x="480228" y="2400300"/>
                  </a:lnTo>
                  <a:lnTo>
                    <a:pt x="518007" y="2425700"/>
                  </a:lnTo>
                  <a:lnTo>
                    <a:pt x="556353" y="2463800"/>
                  </a:lnTo>
                  <a:lnTo>
                    <a:pt x="595172" y="2476500"/>
                  </a:lnTo>
                  <a:lnTo>
                    <a:pt x="888453" y="2654300"/>
                  </a:lnTo>
                  <a:lnTo>
                    <a:pt x="888453" y="3644900"/>
                  </a:lnTo>
                  <a:lnTo>
                    <a:pt x="1670443" y="4089400"/>
                  </a:lnTo>
                  <a:lnTo>
                    <a:pt x="1742380" y="4051300"/>
                  </a:lnTo>
                  <a:lnTo>
                    <a:pt x="1645958" y="4051300"/>
                  </a:lnTo>
                  <a:lnTo>
                    <a:pt x="912787" y="3632200"/>
                  </a:lnTo>
                  <a:lnTo>
                    <a:pt x="912787" y="2616200"/>
                  </a:lnTo>
                  <a:lnTo>
                    <a:pt x="888377" y="2616200"/>
                  </a:lnTo>
                  <a:lnTo>
                    <a:pt x="607212" y="2463800"/>
                  </a:lnTo>
                  <a:lnTo>
                    <a:pt x="464567" y="2362200"/>
                  </a:lnTo>
                  <a:lnTo>
                    <a:pt x="429646" y="2324100"/>
                  </a:lnTo>
                  <a:lnTo>
                    <a:pt x="395287" y="2298700"/>
                  </a:lnTo>
                  <a:lnTo>
                    <a:pt x="361624" y="2260600"/>
                  </a:lnTo>
                  <a:lnTo>
                    <a:pt x="328787" y="2222500"/>
                  </a:lnTo>
                  <a:lnTo>
                    <a:pt x="296912" y="2184400"/>
                  </a:lnTo>
                  <a:lnTo>
                    <a:pt x="266130" y="2146300"/>
                  </a:lnTo>
                  <a:lnTo>
                    <a:pt x="236574" y="2108200"/>
                  </a:lnTo>
                  <a:lnTo>
                    <a:pt x="208378" y="2070100"/>
                  </a:lnTo>
                  <a:lnTo>
                    <a:pt x="181674" y="2019300"/>
                  </a:lnTo>
                  <a:lnTo>
                    <a:pt x="156594" y="1981200"/>
                  </a:lnTo>
                  <a:lnTo>
                    <a:pt x="133273" y="1930400"/>
                  </a:lnTo>
                  <a:lnTo>
                    <a:pt x="111842" y="1879600"/>
                  </a:lnTo>
                  <a:lnTo>
                    <a:pt x="92435" y="1841500"/>
                  </a:lnTo>
                  <a:lnTo>
                    <a:pt x="75185" y="1790700"/>
                  </a:lnTo>
                  <a:lnTo>
                    <a:pt x="60224" y="1739900"/>
                  </a:lnTo>
                  <a:lnTo>
                    <a:pt x="47685" y="1689100"/>
                  </a:lnTo>
                  <a:lnTo>
                    <a:pt x="37701" y="1638300"/>
                  </a:lnTo>
                  <a:lnTo>
                    <a:pt x="30405" y="1587500"/>
                  </a:lnTo>
                  <a:lnTo>
                    <a:pt x="25930" y="1536700"/>
                  </a:lnTo>
                  <a:lnTo>
                    <a:pt x="24409" y="1485900"/>
                  </a:lnTo>
                  <a:lnTo>
                    <a:pt x="26987" y="1435100"/>
                  </a:lnTo>
                  <a:lnTo>
                    <a:pt x="34621" y="1384300"/>
                  </a:lnTo>
                  <a:lnTo>
                    <a:pt x="47162" y="1320800"/>
                  </a:lnTo>
                  <a:lnTo>
                    <a:pt x="64461" y="1282700"/>
                  </a:lnTo>
                  <a:lnTo>
                    <a:pt x="86370" y="1231900"/>
                  </a:lnTo>
                  <a:lnTo>
                    <a:pt x="112739" y="1193800"/>
                  </a:lnTo>
                  <a:lnTo>
                    <a:pt x="143419" y="1155700"/>
                  </a:lnTo>
                  <a:lnTo>
                    <a:pt x="178262" y="1130300"/>
                  </a:lnTo>
                  <a:lnTo>
                    <a:pt x="217119" y="1092200"/>
                  </a:lnTo>
                  <a:lnTo>
                    <a:pt x="256848" y="1079500"/>
                  </a:lnTo>
                  <a:lnTo>
                    <a:pt x="298352" y="1066800"/>
                  </a:lnTo>
                  <a:lnTo>
                    <a:pt x="385466" y="1041400"/>
                  </a:lnTo>
                  <a:lnTo>
                    <a:pt x="525189" y="1041400"/>
                  </a:lnTo>
                  <a:lnTo>
                    <a:pt x="477983" y="1028700"/>
                  </a:lnTo>
                  <a:lnTo>
                    <a:pt x="338416" y="1028700"/>
                  </a:lnTo>
                  <a:lnTo>
                    <a:pt x="604342" y="876300"/>
                  </a:lnTo>
                  <a:lnTo>
                    <a:pt x="628983" y="876300"/>
                  </a:lnTo>
                  <a:lnTo>
                    <a:pt x="629951" y="850900"/>
                  </a:lnTo>
                  <a:lnTo>
                    <a:pt x="635700" y="800100"/>
                  </a:lnTo>
                  <a:lnTo>
                    <a:pt x="645171" y="749300"/>
                  </a:lnTo>
                  <a:lnTo>
                    <a:pt x="658274" y="711200"/>
                  </a:lnTo>
                  <a:lnTo>
                    <a:pt x="674918" y="660400"/>
                  </a:lnTo>
                  <a:lnTo>
                    <a:pt x="695012" y="622300"/>
                  </a:lnTo>
                  <a:lnTo>
                    <a:pt x="718465" y="584200"/>
                  </a:lnTo>
                  <a:lnTo>
                    <a:pt x="745188" y="546100"/>
                  </a:lnTo>
                  <a:lnTo>
                    <a:pt x="775090" y="520700"/>
                  </a:lnTo>
                  <a:lnTo>
                    <a:pt x="808080" y="495300"/>
                  </a:lnTo>
                  <a:lnTo>
                    <a:pt x="844067" y="469900"/>
                  </a:lnTo>
                  <a:lnTo>
                    <a:pt x="883642" y="444500"/>
                  </a:lnTo>
                  <a:lnTo>
                    <a:pt x="925142" y="431800"/>
                  </a:lnTo>
                  <a:lnTo>
                    <a:pt x="1012626" y="406400"/>
                  </a:lnTo>
                  <a:lnTo>
                    <a:pt x="1206179" y="406400"/>
                  </a:lnTo>
                  <a:lnTo>
                    <a:pt x="1159078" y="393700"/>
                  </a:lnTo>
                  <a:lnTo>
                    <a:pt x="973061" y="393700"/>
                  </a:lnTo>
                  <a:lnTo>
                    <a:pt x="1515567" y="76200"/>
                  </a:lnTo>
                  <a:lnTo>
                    <a:pt x="1559529" y="63500"/>
                  </a:lnTo>
                  <a:lnTo>
                    <a:pt x="1605359" y="38100"/>
                  </a:lnTo>
                  <a:lnTo>
                    <a:pt x="1652722" y="38100"/>
                  </a:lnTo>
                  <a:lnTo>
                    <a:pt x="1701283" y="25400"/>
                  </a:lnTo>
                  <a:lnTo>
                    <a:pt x="1867526" y="25400"/>
                  </a:lnTo>
                  <a:lnTo>
                    <a:pt x="1772574" y="0"/>
                  </a:lnTo>
                  <a:close/>
                </a:path>
                <a:path w="3665220" h="4089400">
                  <a:moveTo>
                    <a:pt x="1646034" y="2705100"/>
                  </a:moveTo>
                  <a:lnTo>
                    <a:pt x="1646034" y="4051300"/>
                  </a:lnTo>
                  <a:lnTo>
                    <a:pt x="1742380" y="4051300"/>
                  </a:lnTo>
                  <a:lnTo>
                    <a:pt x="1766359" y="4038600"/>
                  </a:lnTo>
                  <a:lnTo>
                    <a:pt x="1670367" y="4038600"/>
                  </a:lnTo>
                  <a:lnTo>
                    <a:pt x="1670367" y="2743200"/>
                  </a:lnTo>
                  <a:lnTo>
                    <a:pt x="1719653" y="2743200"/>
                  </a:lnTo>
                  <a:lnTo>
                    <a:pt x="1646034" y="2705100"/>
                  </a:lnTo>
                  <a:close/>
                </a:path>
                <a:path w="3665220" h="4089400">
                  <a:moveTo>
                    <a:pt x="1775193" y="3136900"/>
                  </a:moveTo>
                  <a:lnTo>
                    <a:pt x="1762988" y="3149600"/>
                  </a:lnTo>
                  <a:lnTo>
                    <a:pt x="1861756" y="3213100"/>
                  </a:lnTo>
                  <a:lnTo>
                    <a:pt x="1861756" y="3937000"/>
                  </a:lnTo>
                  <a:lnTo>
                    <a:pt x="1670367" y="4038600"/>
                  </a:lnTo>
                  <a:lnTo>
                    <a:pt x="1766359" y="4038600"/>
                  </a:lnTo>
                  <a:lnTo>
                    <a:pt x="1886254" y="3975100"/>
                  </a:lnTo>
                  <a:lnTo>
                    <a:pt x="1886254" y="3225800"/>
                  </a:lnTo>
                  <a:lnTo>
                    <a:pt x="1929993" y="3225800"/>
                  </a:lnTo>
                  <a:lnTo>
                    <a:pt x="1886089" y="3200400"/>
                  </a:lnTo>
                  <a:lnTo>
                    <a:pt x="1886089" y="3187700"/>
                  </a:lnTo>
                  <a:lnTo>
                    <a:pt x="1861756" y="3187700"/>
                  </a:lnTo>
                  <a:lnTo>
                    <a:pt x="1775193" y="3136900"/>
                  </a:lnTo>
                  <a:close/>
                </a:path>
                <a:path w="3665220" h="4089400">
                  <a:moveTo>
                    <a:pt x="1929993" y="3225800"/>
                  </a:moveTo>
                  <a:lnTo>
                    <a:pt x="1886254" y="3225800"/>
                  </a:lnTo>
                  <a:lnTo>
                    <a:pt x="2510739" y="3581400"/>
                  </a:lnTo>
                  <a:lnTo>
                    <a:pt x="2553819" y="3606800"/>
                  </a:lnTo>
                  <a:lnTo>
                    <a:pt x="2641494" y="3632200"/>
                  </a:lnTo>
                  <a:lnTo>
                    <a:pt x="2725255" y="3632200"/>
                  </a:lnTo>
                  <a:lnTo>
                    <a:pt x="2802423" y="3606800"/>
                  </a:lnTo>
                  <a:lnTo>
                    <a:pt x="2611401" y="3606800"/>
                  </a:lnTo>
                  <a:lnTo>
                    <a:pt x="2566732" y="3581400"/>
                  </a:lnTo>
                  <a:lnTo>
                    <a:pt x="2522689" y="3568700"/>
                  </a:lnTo>
                  <a:lnTo>
                    <a:pt x="1929993" y="3225800"/>
                  </a:lnTo>
                  <a:close/>
                </a:path>
                <a:path w="3665220" h="4089400">
                  <a:moveTo>
                    <a:pt x="1867526" y="25400"/>
                  </a:moveTo>
                  <a:lnTo>
                    <a:pt x="1750709" y="25400"/>
                  </a:lnTo>
                  <a:lnTo>
                    <a:pt x="1900834" y="63500"/>
                  </a:lnTo>
                  <a:lnTo>
                    <a:pt x="1999218" y="114300"/>
                  </a:lnTo>
                  <a:lnTo>
                    <a:pt x="2045985" y="139700"/>
                  </a:lnTo>
                  <a:lnTo>
                    <a:pt x="2090701" y="177800"/>
                  </a:lnTo>
                  <a:lnTo>
                    <a:pt x="2133392" y="203200"/>
                  </a:lnTo>
                  <a:lnTo>
                    <a:pt x="2174082" y="241300"/>
                  </a:lnTo>
                  <a:lnTo>
                    <a:pt x="2212796" y="279400"/>
                  </a:lnTo>
                  <a:lnTo>
                    <a:pt x="2249558" y="317500"/>
                  </a:lnTo>
                  <a:lnTo>
                    <a:pt x="2284393" y="355600"/>
                  </a:lnTo>
                  <a:lnTo>
                    <a:pt x="2317325" y="393700"/>
                  </a:lnTo>
                  <a:lnTo>
                    <a:pt x="2348380" y="431800"/>
                  </a:lnTo>
                  <a:lnTo>
                    <a:pt x="2377581" y="482600"/>
                  </a:lnTo>
                  <a:lnTo>
                    <a:pt x="2404954" y="520700"/>
                  </a:lnTo>
                  <a:lnTo>
                    <a:pt x="2430523" y="558800"/>
                  </a:lnTo>
                  <a:lnTo>
                    <a:pt x="2454313" y="609600"/>
                  </a:lnTo>
                  <a:lnTo>
                    <a:pt x="2476348" y="647700"/>
                  </a:lnTo>
                  <a:lnTo>
                    <a:pt x="2496653" y="698500"/>
                  </a:lnTo>
                  <a:lnTo>
                    <a:pt x="2515252" y="736600"/>
                  </a:lnTo>
                  <a:lnTo>
                    <a:pt x="2532171" y="787400"/>
                  </a:lnTo>
                  <a:lnTo>
                    <a:pt x="2547433" y="825500"/>
                  </a:lnTo>
                  <a:lnTo>
                    <a:pt x="2561064" y="876300"/>
                  </a:lnTo>
                  <a:lnTo>
                    <a:pt x="2573089" y="914400"/>
                  </a:lnTo>
                  <a:lnTo>
                    <a:pt x="2583530" y="952500"/>
                  </a:lnTo>
                  <a:lnTo>
                    <a:pt x="2592415" y="1003300"/>
                  </a:lnTo>
                  <a:lnTo>
                    <a:pt x="2599766" y="1041400"/>
                  </a:lnTo>
                  <a:lnTo>
                    <a:pt x="1959546" y="1409700"/>
                  </a:lnTo>
                  <a:lnTo>
                    <a:pt x="2088841" y="1409700"/>
                  </a:lnTo>
                  <a:lnTo>
                    <a:pt x="2135156" y="1422400"/>
                  </a:lnTo>
                  <a:lnTo>
                    <a:pt x="2181720" y="1422400"/>
                  </a:lnTo>
                  <a:lnTo>
                    <a:pt x="2228165" y="1447800"/>
                  </a:lnTo>
                  <a:lnTo>
                    <a:pt x="2274125" y="1460500"/>
                  </a:lnTo>
                  <a:lnTo>
                    <a:pt x="2323384" y="1485900"/>
                  </a:lnTo>
                  <a:lnTo>
                    <a:pt x="2370005" y="1524000"/>
                  </a:lnTo>
                  <a:lnTo>
                    <a:pt x="2414038" y="1549400"/>
                  </a:lnTo>
                  <a:lnTo>
                    <a:pt x="2455529" y="1587500"/>
                  </a:lnTo>
                  <a:lnTo>
                    <a:pt x="2494527" y="1625600"/>
                  </a:lnTo>
                  <a:lnTo>
                    <a:pt x="2531080" y="1663700"/>
                  </a:lnTo>
                  <a:lnTo>
                    <a:pt x="2565236" y="1701800"/>
                  </a:lnTo>
                  <a:lnTo>
                    <a:pt x="2597044" y="1739900"/>
                  </a:lnTo>
                  <a:lnTo>
                    <a:pt x="2626551" y="1790700"/>
                  </a:lnTo>
                  <a:lnTo>
                    <a:pt x="2653805" y="1828800"/>
                  </a:lnTo>
                  <a:lnTo>
                    <a:pt x="2678856" y="1866900"/>
                  </a:lnTo>
                  <a:lnTo>
                    <a:pt x="2701750" y="1917700"/>
                  </a:lnTo>
                  <a:lnTo>
                    <a:pt x="2722536" y="1955800"/>
                  </a:lnTo>
                  <a:lnTo>
                    <a:pt x="2741262" y="2006600"/>
                  </a:lnTo>
                  <a:lnTo>
                    <a:pt x="2757976" y="2044700"/>
                  </a:lnTo>
                  <a:lnTo>
                    <a:pt x="2772727" y="2095500"/>
                  </a:lnTo>
                  <a:lnTo>
                    <a:pt x="2785562" y="2133600"/>
                  </a:lnTo>
                  <a:lnTo>
                    <a:pt x="2796530" y="2171700"/>
                  </a:lnTo>
                  <a:lnTo>
                    <a:pt x="2805678" y="2209800"/>
                  </a:lnTo>
                  <a:lnTo>
                    <a:pt x="2813055" y="2260600"/>
                  </a:lnTo>
                  <a:lnTo>
                    <a:pt x="2818709" y="2298700"/>
                  </a:lnTo>
                  <a:lnTo>
                    <a:pt x="2822688" y="2336800"/>
                  </a:lnTo>
                  <a:lnTo>
                    <a:pt x="2825040" y="2362200"/>
                  </a:lnTo>
                  <a:lnTo>
                    <a:pt x="2825813" y="2400300"/>
                  </a:lnTo>
                  <a:lnTo>
                    <a:pt x="2822888" y="2451100"/>
                  </a:lnTo>
                  <a:lnTo>
                    <a:pt x="2814236" y="2501900"/>
                  </a:lnTo>
                  <a:lnTo>
                    <a:pt x="2800042" y="2540000"/>
                  </a:lnTo>
                  <a:lnTo>
                    <a:pt x="2780490" y="2590800"/>
                  </a:lnTo>
                  <a:lnTo>
                    <a:pt x="2755766" y="2628900"/>
                  </a:lnTo>
                  <a:lnTo>
                    <a:pt x="2726055" y="2667000"/>
                  </a:lnTo>
                  <a:lnTo>
                    <a:pt x="2718435" y="2679700"/>
                  </a:lnTo>
                  <a:lnTo>
                    <a:pt x="2726220" y="2679700"/>
                  </a:lnTo>
                  <a:lnTo>
                    <a:pt x="2764190" y="2730500"/>
                  </a:lnTo>
                  <a:lnTo>
                    <a:pt x="2798611" y="2768600"/>
                  </a:lnTo>
                  <a:lnTo>
                    <a:pt x="2829600" y="2819400"/>
                  </a:lnTo>
                  <a:lnTo>
                    <a:pt x="2857275" y="2857500"/>
                  </a:lnTo>
                  <a:lnTo>
                    <a:pt x="2881754" y="2908300"/>
                  </a:lnTo>
                  <a:lnTo>
                    <a:pt x="2903156" y="2959100"/>
                  </a:lnTo>
                  <a:lnTo>
                    <a:pt x="2921598" y="3009900"/>
                  </a:lnTo>
                  <a:lnTo>
                    <a:pt x="2937198" y="3048000"/>
                  </a:lnTo>
                  <a:lnTo>
                    <a:pt x="2950075" y="3098800"/>
                  </a:lnTo>
                  <a:lnTo>
                    <a:pt x="2960345" y="3136900"/>
                  </a:lnTo>
                  <a:lnTo>
                    <a:pt x="2968128" y="3187700"/>
                  </a:lnTo>
                  <a:lnTo>
                    <a:pt x="2973542" y="3225800"/>
                  </a:lnTo>
                  <a:lnTo>
                    <a:pt x="2976703" y="3263900"/>
                  </a:lnTo>
                  <a:lnTo>
                    <a:pt x="2977730" y="3302000"/>
                  </a:lnTo>
                  <a:lnTo>
                    <a:pt x="2974256" y="3352800"/>
                  </a:lnTo>
                  <a:lnTo>
                    <a:pt x="2964095" y="3390900"/>
                  </a:lnTo>
                  <a:lnTo>
                    <a:pt x="2947642" y="3441700"/>
                  </a:lnTo>
                  <a:lnTo>
                    <a:pt x="2925291" y="3479800"/>
                  </a:lnTo>
                  <a:lnTo>
                    <a:pt x="2897436" y="3517900"/>
                  </a:lnTo>
                  <a:lnTo>
                    <a:pt x="2864472" y="3543300"/>
                  </a:lnTo>
                  <a:lnTo>
                    <a:pt x="2826791" y="3568700"/>
                  </a:lnTo>
                  <a:lnTo>
                    <a:pt x="2786425" y="3594100"/>
                  </a:lnTo>
                  <a:lnTo>
                    <a:pt x="2744207" y="3606800"/>
                  </a:lnTo>
                  <a:lnTo>
                    <a:pt x="2802423" y="3606800"/>
                  </a:lnTo>
                  <a:lnTo>
                    <a:pt x="2838996" y="3594100"/>
                  </a:lnTo>
                  <a:lnTo>
                    <a:pt x="2840964" y="3594100"/>
                  </a:lnTo>
                  <a:lnTo>
                    <a:pt x="2972724" y="3517900"/>
                  </a:lnTo>
                  <a:lnTo>
                    <a:pt x="2930474" y="3517900"/>
                  </a:lnTo>
                  <a:lnTo>
                    <a:pt x="2955364" y="3479800"/>
                  </a:lnTo>
                  <a:lnTo>
                    <a:pt x="2975278" y="3429000"/>
                  </a:lnTo>
                  <a:lnTo>
                    <a:pt x="2989897" y="3390900"/>
                  </a:lnTo>
                  <a:lnTo>
                    <a:pt x="2998902" y="3340100"/>
                  </a:lnTo>
                  <a:lnTo>
                    <a:pt x="3001975" y="3302000"/>
                  </a:lnTo>
                  <a:lnTo>
                    <a:pt x="3000958" y="3263900"/>
                  </a:lnTo>
                  <a:lnTo>
                    <a:pt x="2997831" y="3225800"/>
                  </a:lnTo>
                  <a:lnTo>
                    <a:pt x="2992481" y="3187700"/>
                  </a:lnTo>
                  <a:lnTo>
                    <a:pt x="2984793" y="3136900"/>
                  </a:lnTo>
                  <a:lnTo>
                    <a:pt x="2974653" y="3098800"/>
                  </a:lnTo>
                  <a:lnTo>
                    <a:pt x="2961946" y="3048000"/>
                  </a:lnTo>
                  <a:lnTo>
                    <a:pt x="2946560" y="2997200"/>
                  </a:lnTo>
                  <a:lnTo>
                    <a:pt x="2928379" y="2959100"/>
                  </a:lnTo>
                  <a:lnTo>
                    <a:pt x="2907290" y="2908300"/>
                  </a:lnTo>
                  <a:lnTo>
                    <a:pt x="2883178" y="2857500"/>
                  </a:lnTo>
                  <a:lnTo>
                    <a:pt x="2855929" y="2806700"/>
                  </a:lnTo>
                  <a:lnTo>
                    <a:pt x="2825430" y="2768600"/>
                  </a:lnTo>
                  <a:lnTo>
                    <a:pt x="2791566" y="2717800"/>
                  </a:lnTo>
                  <a:lnTo>
                    <a:pt x="2754223" y="2679700"/>
                  </a:lnTo>
                  <a:lnTo>
                    <a:pt x="2842654" y="2628900"/>
                  </a:lnTo>
                  <a:lnTo>
                    <a:pt x="2782163" y="2628900"/>
                  </a:lnTo>
                  <a:lnTo>
                    <a:pt x="2806133" y="2590800"/>
                  </a:lnTo>
                  <a:lnTo>
                    <a:pt x="2825063" y="2552700"/>
                  </a:lnTo>
                  <a:lnTo>
                    <a:pt x="2838789" y="2501900"/>
                  </a:lnTo>
                  <a:lnTo>
                    <a:pt x="2847146" y="2451100"/>
                  </a:lnTo>
                  <a:lnTo>
                    <a:pt x="2849968" y="2400300"/>
                  </a:lnTo>
                  <a:lnTo>
                    <a:pt x="2848772" y="2362200"/>
                  </a:lnTo>
                  <a:lnTo>
                    <a:pt x="2845219" y="2311400"/>
                  </a:lnTo>
                  <a:lnTo>
                    <a:pt x="2839366" y="2260600"/>
                  </a:lnTo>
                  <a:lnTo>
                    <a:pt x="2831271" y="2222500"/>
                  </a:lnTo>
                  <a:lnTo>
                    <a:pt x="2820990" y="2171700"/>
                  </a:lnTo>
                  <a:lnTo>
                    <a:pt x="2808578" y="2120900"/>
                  </a:lnTo>
                  <a:lnTo>
                    <a:pt x="2794094" y="2070100"/>
                  </a:lnTo>
                  <a:lnTo>
                    <a:pt x="2777593" y="2032000"/>
                  </a:lnTo>
                  <a:lnTo>
                    <a:pt x="2759131" y="1981200"/>
                  </a:lnTo>
                  <a:lnTo>
                    <a:pt x="2738767" y="1930400"/>
                  </a:lnTo>
                  <a:lnTo>
                    <a:pt x="2716555" y="1892300"/>
                  </a:lnTo>
                  <a:lnTo>
                    <a:pt x="2692053" y="1841500"/>
                  </a:lnTo>
                  <a:lnTo>
                    <a:pt x="2665944" y="1803400"/>
                  </a:lnTo>
                  <a:lnTo>
                    <a:pt x="2638272" y="1765300"/>
                  </a:lnTo>
                  <a:lnTo>
                    <a:pt x="2609081" y="1714500"/>
                  </a:lnTo>
                  <a:lnTo>
                    <a:pt x="2578415" y="1676400"/>
                  </a:lnTo>
                  <a:lnTo>
                    <a:pt x="2546317" y="1638300"/>
                  </a:lnTo>
                  <a:lnTo>
                    <a:pt x="2512833" y="1612900"/>
                  </a:lnTo>
                  <a:lnTo>
                    <a:pt x="2478006" y="1574800"/>
                  </a:lnTo>
                  <a:lnTo>
                    <a:pt x="2441879" y="1549400"/>
                  </a:lnTo>
                  <a:lnTo>
                    <a:pt x="2404498" y="1511300"/>
                  </a:lnTo>
                  <a:lnTo>
                    <a:pt x="2365905" y="1485900"/>
                  </a:lnTo>
                  <a:lnTo>
                    <a:pt x="2326146" y="1460500"/>
                  </a:lnTo>
                  <a:lnTo>
                    <a:pt x="2285263" y="1447800"/>
                  </a:lnTo>
                  <a:lnTo>
                    <a:pt x="2184886" y="1397000"/>
                  </a:lnTo>
                  <a:lnTo>
                    <a:pt x="2034235" y="1397000"/>
                  </a:lnTo>
                  <a:lnTo>
                    <a:pt x="2618359" y="1054100"/>
                  </a:lnTo>
                  <a:lnTo>
                    <a:pt x="2706290" y="1028700"/>
                  </a:lnTo>
                  <a:lnTo>
                    <a:pt x="2622867" y="1028700"/>
                  </a:lnTo>
                  <a:lnTo>
                    <a:pt x="2615526" y="990600"/>
                  </a:lnTo>
                  <a:lnTo>
                    <a:pt x="2606760" y="952500"/>
                  </a:lnTo>
                  <a:lnTo>
                    <a:pt x="2596548" y="901700"/>
                  </a:lnTo>
                  <a:lnTo>
                    <a:pt x="2584866" y="863600"/>
                  </a:lnTo>
                  <a:lnTo>
                    <a:pt x="2571694" y="825500"/>
                  </a:lnTo>
                  <a:lnTo>
                    <a:pt x="2557010" y="774700"/>
                  </a:lnTo>
                  <a:lnTo>
                    <a:pt x="2540792" y="736600"/>
                  </a:lnTo>
                  <a:lnTo>
                    <a:pt x="2523017" y="698500"/>
                  </a:lnTo>
                  <a:lnTo>
                    <a:pt x="2503665" y="647700"/>
                  </a:lnTo>
                  <a:lnTo>
                    <a:pt x="2482714" y="609600"/>
                  </a:lnTo>
                  <a:lnTo>
                    <a:pt x="2460141" y="571500"/>
                  </a:lnTo>
                  <a:lnTo>
                    <a:pt x="2435925" y="520700"/>
                  </a:lnTo>
                  <a:lnTo>
                    <a:pt x="2410045" y="482600"/>
                  </a:lnTo>
                  <a:lnTo>
                    <a:pt x="2382477" y="444500"/>
                  </a:lnTo>
                  <a:lnTo>
                    <a:pt x="2353201" y="406400"/>
                  </a:lnTo>
                  <a:lnTo>
                    <a:pt x="2322195" y="355600"/>
                  </a:lnTo>
                  <a:lnTo>
                    <a:pt x="2289437" y="317500"/>
                  </a:lnTo>
                  <a:lnTo>
                    <a:pt x="2254905" y="279400"/>
                  </a:lnTo>
                  <a:lnTo>
                    <a:pt x="2218577" y="254000"/>
                  </a:lnTo>
                  <a:lnTo>
                    <a:pt x="2180432" y="215900"/>
                  </a:lnTo>
                  <a:lnTo>
                    <a:pt x="2140447" y="177800"/>
                  </a:lnTo>
                  <a:lnTo>
                    <a:pt x="2098601" y="152400"/>
                  </a:lnTo>
                  <a:lnTo>
                    <a:pt x="2054873" y="114300"/>
                  </a:lnTo>
                  <a:lnTo>
                    <a:pt x="2009239" y="88900"/>
                  </a:lnTo>
                  <a:lnTo>
                    <a:pt x="1914831" y="38100"/>
                  </a:lnTo>
                  <a:lnTo>
                    <a:pt x="1867526" y="25400"/>
                  </a:lnTo>
                  <a:close/>
                </a:path>
                <a:path w="3665220" h="4089400">
                  <a:moveTo>
                    <a:pt x="3433075" y="2311400"/>
                  </a:moveTo>
                  <a:lnTo>
                    <a:pt x="3395345" y="2311400"/>
                  </a:lnTo>
                  <a:lnTo>
                    <a:pt x="3432282" y="2349500"/>
                  </a:lnTo>
                  <a:lnTo>
                    <a:pt x="3465778" y="2400300"/>
                  </a:lnTo>
                  <a:lnTo>
                    <a:pt x="3495945" y="2438400"/>
                  </a:lnTo>
                  <a:lnTo>
                    <a:pt x="3522897" y="2489200"/>
                  </a:lnTo>
                  <a:lnTo>
                    <a:pt x="3546745" y="2527300"/>
                  </a:lnTo>
                  <a:lnTo>
                    <a:pt x="3567604" y="2578100"/>
                  </a:lnTo>
                  <a:lnTo>
                    <a:pt x="3585586" y="2628900"/>
                  </a:lnTo>
                  <a:lnTo>
                    <a:pt x="3600804" y="2667000"/>
                  </a:lnTo>
                  <a:lnTo>
                    <a:pt x="3613370" y="2717800"/>
                  </a:lnTo>
                  <a:lnTo>
                    <a:pt x="3623399" y="2755900"/>
                  </a:lnTo>
                  <a:lnTo>
                    <a:pt x="3631002" y="2806700"/>
                  </a:lnTo>
                  <a:lnTo>
                    <a:pt x="3636294" y="2844800"/>
                  </a:lnTo>
                  <a:lnTo>
                    <a:pt x="3639386" y="2882900"/>
                  </a:lnTo>
                  <a:lnTo>
                    <a:pt x="3640391" y="2921000"/>
                  </a:lnTo>
                  <a:lnTo>
                    <a:pt x="3636877" y="2959100"/>
                  </a:lnTo>
                  <a:lnTo>
                    <a:pt x="3626598" y="3009900"/>
                  </a:lnTo>
                  <a:lnTo>
                    <a:pt x="3609953" y="3060700"/>
                  </a:lnTo>
                  <a:lnTo>
                    <a:pt x="3587338" y="3098800"/>
                  </a:lnTo>
                  <a:lnTo>
                    <a:pt x="3559151" y="3136900"/>
                  </a:lnTo>
                  <a:lnTo>
                    <a:pt x="3525789" y="3162300"/>
                  </a:lnTo>
                  <a:lnTo>
                    <a:pt x="3487648" y="3187700"/>
                  </a:lnTo>
                  <a:lnTo>
                    <a:pt x="2930474" y="3517900"/>
                  </a:lnTo>
                  <a:lnTo>
                    <a:pt x="2972724" y="3517900"/>
                  </a:lnTo>
                  <a:lnTo>
                    <a:pt x="3499764" y="3213100"/>
                  </a:lnTo>
                  <a:lnTo>
                    <a:pt x="3540932" y="3187700"/>
                  </a:lnTo>
                  <a:lnTo>
                    <a:pt x="3576952" y="3149600"/>
                  </a:lnTo>
                  <a:lnTo>
                    <a:pt x="3607393" y="3111500"/>
                  </a:lnTo>
                  <a:lnTo>
                    <a:pt x="3631821" y="3060700"/>
                  </a:lnTo>
                  <a:lnTo>
                    <a:pt x="3649805" y="3022600"/>
                  </a:lnTo>
                  <a:lnTo>
                    <a:pt x="3660913" y="2971800"/>
                  </a:lnTo>
                  <a:lnTo>
                    <a:pt x="3664712" y="2921000"/>
                  </a:lnTo>
                  <a:lnTo>
                    <a:pt x="3663700" y="2882900"/>
                  </a:lnTo>
                  <a:lnTo>
                    <a:pt x="3660554" y="2844800"/>
                  </a:lnTo>
                  <a:lnTo>
                    <a:pt x="3655159" y="2794000"/>
                  </a:lnTo>
                  <a:lnTo>
                    <a:pt x="3647398" y="2755900"/>
                  </a:lnTo>
                  <a:lnTo>
                    <a:pt x="3637156" y="2705100"/>
                  </a:lnTo>
                  <a:lnTo>
                    <a:pt x="3624316" y="2667000"/>
                  </a:lnTo>
                  <a:lnTo>
                    <a:pt x="3608763" y="2616200"/>
                  </a:lnTo>
                  <a:lnTo>
                    <a:pt x="3590381" y="2565400"/>
                  </a:lnTo>
                  <a:lnTo>
                    <a:pt x="3569053" y="2527300"/>
                  </a:lnTo>
                  <a:lnTo>
                    <a:pt x="3544665" y="2476500"/>
                  </a:lnTo>
                  <a:lnTo>
                    <a:pt x="3517099" y="2425700"/>
                  </a:lnTo>
                  <a:lnTo>
                    <a:pt x="3486240" y="2374900"/>
                  </a:lnTo>
                  <a:lnTo>
                    <a:pt x="3451972" y="2336800"/>
                  </a:lnTo>
                  <a:lnTo>
                    <a:pt x="3433075" y="2311400"/>
                  </a:lnTo>
                  <a:close/>
                </a:path>
                <a:path w="3665220" h="4089400">
                  <a:moveTo>
                    <a:pt x="1719653" y="2743200"/>
                  </a:moveTo>
                  <a:lnTo>
                    <a:pt x="1670367" y="2743200"/>
                  </a:lnTo>
                  <a:lnTo>
                    <a:pt x="1852091" y="2844800"/>
                  </a:lnTo>
                  <a:lnTo>
                    <a:pt x="1861756" y="2844800"/>
                  </a:lnTo>
                  <a:lnTo>
                    <a:pt x="1861756" y="3187700"/>
                  </a:lnTo>
                  <a:lnTo>
                    <a:pt x="1886089" y="3187700"/>
                  </a:lnTo>
                  <a:lnTo>
                    <a:pt x="1886089" y="2844800"/>
                  </a:lnTo>
                  <a:lnTo>
                    <a:pt x="1928840" y="2819400"/>
                  </a:lnTo>
                  <a:lnTo>
                    <a:pt x="1874215" y="2819400"/>
                  </a:lnTo>
                  <a:lnTo>
                    <a:pt x="1868593" y="2806700"/>
                  </a:lnTo>
                  <a:lnTo>
                    <a:pt x="1842350" y="2806700"/>
                  </a:lnTo>
                  <a:lnTo>
                    <a:pt x="1719653" y="2743200"/>
                  </a:lnTo>
                  <a:close/>
                </a:path>
                <a:path w="3665220" h="4089400">
                  <a:moveTo>
                    <a:pt x="1523587" y="1422400"/>
                  </a:moveTo>
                  <a:lnTo>
                    <a:pt x="1495425" y="1422400"/>
                  </a:lnTo>
                  <a:lnTo>
                    <a:pt x="2068804" y="2717800"/>
                  </a:lnTo>
                  <a:lnTo>
                    <a:pt x="1874215" y="2819400"/>
                  </a:lnTo>
                  <a:lnTo>
                    <a:pt x="1928840" y="2819400"/>
                  </a:lnTo>
                  <a:lnTo>
                    <a:pt x="2099843" y="2717800"/>
                  </a:lnTo>
                  <a:lnTo>
                    <a:pt x="1523587" y="1422400"/>
                  </a:lnTo>
                  <a:close/>
                </a:path>
                <a:path w="3665220" h="4089400">
                  <a:moveTo>
                    <a:pt x="1312065" y="1549400"/>
                  </a:moveTo>
                  <a:lnTo>
                    <a:pt x="1281747" y="1549400"/>
                  </a:lnTo>
                  <a:lnTo>
                    <a:pt x="1842350" y="2806700"/>
                  </a:lnTo>
                  <a:lnTo>
                    <a:pt x="1868593" y="2806700"/>
                  </a:lnTo>
                  <a:lnTo>
                    <a:pt x="1312065" y="1549400"/>
                  </a:lnTo>
                  <a:close/>
                </a:path>
                <a:path w="3665220" h="4089400">
                  <a:moveTo>
                    <a:pt x="2759981" y="1003300"/>
                  </a:moveTo>
                  <a:lnTo>
                    <a:pt x="2713327" y="1003300"/>
                  </a:lnTo>
                  <a:lnTo>
                    <a:pt x="2622867" y="1028700"/>
                  </a:lnTo>
                  <a:lnTo>
                    <a:pt x="2751901" y="1028700"/>
                  </a:lnTo>
                  <a:lnTo>
                    <a:pt x="2798121" y="1041400"/>
                  </a:lnTo>
                  <a:lnTo>
                    <a:pt x="2844586" y="1041400"/>
                  </a:lnTo>
                  <a:lnTo>
                    <a:pt x="2890929" y="1054100"/>
                  </a:lnTo>
                  <a:lnTo>
                    <a:pt x="2936786" y="1079500"/>
                  </a:lnTo>
                  <a:lnTo>
                    <a:pt x="2986045" y="1104900"/>
                  </a:lnTo>
                  <a:lnTo>
                    <a:pt x="3032666" y="1143000"/>
                  </a:lnTo>
                  <a:lnTo>
                    <a:pt x="3076698" y="1168400"/>
                  </a:lnTo>
                  <a:lnTo>
                    <a:pt x="3118188" y="1206500"/>
                  </a:lnTo>
                  <a:lnTo>
                    <a:pt x="3157186" y="1244600"/>
                  </a:lnTo>
                  <a:lnTo>
                    <a:pt x="3193738" y="1282700"/>
                  </a:lnTo>
                  <a:lnTo>
                    <a:pt x="3227894" y="1320800"/>
                  </a:lnTo>
                  <a:lnTo>
                    <a:pt x="3259701" y="1358900"/>
                  </a:lnTo>
                  <a:lnTo>
                    <a:pt x="3289207" y="1397000"/>
                  </a:lnTo>
                  <a:lnTo>
                    <a:pt x="3316461" y="1447800"/>
                  </a:lnTo>
                  <a:lnTo>
                    <a:pt x="3341511" y="1485900"/>
                  </a:lnTo>
                  <a:lnTo>
                    <a:pt x="3364404" y="1536700"/>
                  </a:lnTo>
                  <a:lnTo>
                    <a:pt x="3385190" y="1574800"/>
                  </a:lnTo>
                  <a:lnTo>
                    <a:pt x="3403915" y="1625600"/>
                  </a:lnTo>
                  <a:lnTo>
                    <a:pt x="3420628" y="1663700"/>
                  </a:lnTo>
                  <a:lnTo>
                    <a:pt x="3435378" y="1701800"/>
                  </a:lnTo>
                  <a:lnTo>
                    <a:pt x="3448213" y="1752600"/>
                  </a:lnTo>
                  <a:lnTo>
                    <a:pt x="3459180" y="1790700"/>
                  </a:lnTo>
                  <a:lnTo>
                    <a:pt x="3468327" y="1828800"/>
                  </a:lnTo>
                  <a:lnTo>
                    <a:pt x="3475704" y="1879600"/>
                  </a:lnTo>
                  <a:lnTo>
                    <a:pt x="3481357" y="1917700"/>
                  </a:lnTo>
                  <a:lnTo>
                    <a:pt x="3485336" y="1943100"/>
                  </a:lnTo>
                  <a:lnTo>
                    <a:pt x="3487688" y="1981200"/>
                  </a:lnTo>
                  <a:lnTo>
                    <a:pt x="3488461" y="2019300"/>
                  </a:lnTo>
                  <a:lnTo>
                    <a:pt x="3485570" y="2070100"/>
                  </a:lnTo>
                  <a:lnTo>
                    <a:pt x="3477020" y="2120900"/>
                  </a:lnTo>
                  <a:lnTo>
                    <a:pt x="3462991" y="2159000"/>
                  </a:lnTo>
                  <a:lnTo>
                    <a:pt x="3443667" y="2209800"/>
                  </a:lnTo>
                  <a:lnTo>
                    <a:pt x="3419228" y="2247900"/>
                  </a:lnTo>
                  <a:lnTo>
                    <a:pt x="3389858" y="2286000"/>
                  </a:lnTo>
                  <a:lnTo>
                    <a:pt x="2782163" y="2628900"/>
                  </a:lnTo>
                  <a:lnTo>
                    <a:pt x="2842654" y="2628900"/>
                  </a:lnTo>
                  <a:lnTo>
                    <a:pt x="3395345" y="2311400"/>
                  </a:lnTo>
                  <a:lnTo>
                    <a:pt x="3433075" y="2311400"/>
                  </a:lnTo>
                  <a:lnTo>
                    <a:pt x="3414179" y="2286000"/>
                  </a:lnTo>
                  <a:lnTo>
                    <a:pt x="3443613" y="2247900"/>
                  </a:lnTo>
                  <a:lnTo>
                    <a:pt x="3468084" y="2209800"/>
                  </a:lnTo>
                  <a:lnTo>
                    <a:pt x="3487418" y="2171700"/>
                  </a:lnTo>
                  <a:lnTo>
                    <a:pt x="3501443" y="2120900"/>
                  </a:lnTo>
                  <a:lnTo>
                    <a:pt x="3509985" y="2070100"/>
                  </a:lnTo>
                  <a:lnTo>
                    <a:pt x="3512870" y="2019300"/>
                  </a:lnTo>
                  <a:lnTo>
                    <a:pt x="3511674" y="1968500"/>
                  </a:lnTo>
                  <a:lnTo>
                    <a:pt x="3508121" y="1930400"/>
                  </a:lnTo>
                  <a:lnTo>
                    <a:pt x="3502268" y="1879600"/>
                  </a:lnTo>
                  <a:lnTo>
                    <a:pt x="3494173" y="1828800"/>
                  </a:lnTo>
                  <a:lnTo>
                    <a:pt x="3483892" y="1790700"/>
                  </a:lnTo>
                  <a:lnTo>
                    <a:pt x="3471480" y="1739900"/>
                  </a:lnTo>
                  <a:lnTo>
                    <a:pt x="3456996" y="1689100"/>
                  </a:lnTo>
                  <a:lnTo>
                    <a:pt x="3440495" y="1638300"/>
                  </a:lnTo>
                  <a:lnTo>
                    <a:pt x="3422033" y="1600200"/>
                  </a:lnTo>
                  <a:lnTo>
                    <a:pt x="3401669" y="1549400"/>
                  </a:lnTo>
                  <a:lnTo>
                    <a:pt x="3379457" y="1511300"/>
                  </a:lnTo>
                  <a:lnTo>
                    <a:pt x="3354955" y="1460500"/>
                  </a:lnTo>
                  <a:lnTo>
                    <a:pt x="3328846" y="1422400"/>
                  </a:lnTo>
                  <a:lnTo>
                    <a:pt x="3301174" y="1371600"/>
                  </a:lnTo>
                  <a:lnTo>
                    <a:pt x="3271983" y="1333500"/>
                  </a:lnTo>
                  <a:lnTo>
                    <a:pt x="3241317" y="1295400"/>
                  </a:lnTo>
                  <a:lnTo>
                    <a:pt x="3209219" y="1257300"/>
                  </a:lnTo>
                  <a:lnTo>
                    <a:pt x="3175735" y="1231900"/>
                  </a:lnTo>
                  <a:lnTo>
                    <a:pt x="3140908" y="1193800"/>
                  </a:lnTo>
                  <a:lnTo>
                    <a:pt x="3104781" y="1168400"/>
                  </a:lnTo>
                  <a:lnTo>
                    <a:pt x="3067400" y="1130300"/>
                  </a:lnTo>
                  <a:lnTo>
                    <a:pt x="3028807" y="1104900"/>
                  </a:lnTo>
                  <a:lnTo>
                    <a:pt x="2989047" y="1079500"/>
                  </a:lnTo>
                  <a:lnTo>
                    <a:pt x="2948165" y="1054100"/>
                  </a:lnTo>
                  <a:lnTo>
                    <a:pt x="2759981" y="1003300"/>
                  </a:lnTo>
                  <a:close/>
                </a:path>
                <a:path w="3665220" h="4089400">
                  <a:moveTo>
                    <a:pt x="1506639" y="1384300"/>
                  </a:moveTo>
                  <a:lnTo>
                    <a:pt x="1277404" y="1511300"/>
                  </a:lnTo>
                  <a:lnTo>
                    <a:pt x="1272743" y="1524000"/>
                  </a:lnTo>
                  <a:lnTo>
                    <a:pt x="685749" y="2171700"/>
                  </a:lnTo>
                  <a:lnTo>
                    <a:pt x="888377" y="2286000"/>
                  </a:lnTo>
                  <a:lnTo>
                    <a:pt x="888377" y="2616200"/>
                  </a:lnTo>
                  <a:lnTo>
                    <a:pt x="912787" y="2616200"/>
                  </a:lnTo>
                  <a:lnTo>
                    <a:pt x="912787" y="2273300"/>
                  </a:lnTo>
                  <a:lnTo>
                    <a:pt x="724001" y="2171700"/>
                  </a:lnTo>
                  <a:lnTo>
                    <a:pt x="1281747" y="1549400"/>
                  </a:lnTo>
                  <a:lnTo>
                    <a:pt x="1312065" y="1549400"/>
                  </a:lnTo>
                  <a:lnTo>
                    <a:pt x="1300822" y="1524000"/>
                  </a:lnTo>
                  <a:lnTo>
                    <a:pt x="1495425" y="1422400"/>
                  </a:lnTo>
                  <a:lnTo>
                    <a:pt x="1523587" y="1422400"/>
                  </a:lnTo>
                  <a:lnTo>
                    <a:pt x="1506639" y="1384300"/>
                  </a:lnTo>
                  <a:close/>
                </a:path>
                <a:path w="3665220" h="4089400">
                  <a:moveTo>
                    <a:pt x="1206179" y="406400"/>
                  </a:moveTo>
                  <a:lnTo>
                    <a:pt x="1103929" y="406400"/>
                  </a:lnTo>
                  <a:lnTo>
                    <a:pt x="1242383" y="444500"/>
                  </a:lnTo>
                  <a:lnTo>
                    <a:pt x="1287640" y="469900"/>
                  </a:lnTo>
                  <a:lnTo>
                    <a:pt x="1334954" y="495300"/>
                  </a:lnTo>
                  <a:lnTo>
                    <a:pt x="1380324" y="520700"/>
                  </a:lnTo>
                  <a:lnTo>
                    <a:pt x="1423771" y="558800"/>
                  </a:lnTo>
                  <a:lnTo>
                    <a:pt x="1465318" y="584200"/>
                  </a:lnTo>
                  <a:lnTo>
                    <a:pt x="1504987" y="622300"/>
                  </a:lnTo>
                  <a:lnTo>
                    <a:pt x="1542801" y="647700"/>
                  </a:lnTo>
                  <a:lnTo>
                    <a:pt x="1578781" y="685800"/>
                  </a:lnTo>
                  <a:lnTo>
                    <a:pt x="1612951" y="723900"/>
                  </a:lnTo>
                  <a:lnTo>
                    <a:pt x="1645333" y="762000"/>
                  </a:lnTo>
                  <a:lnTo>
                    <a:pt x="1675948" y="800100"/>
                  </a:lnTo>
                  <a:lnTo>
                    <a:pt x="1704820" y="850900"/>
                  </a:lnTo>
                  <a:lnTo>
                    <a:pt x="1731970" y="889000"/>
                  </a:lnTo>
                  <a:lnTo>
                    <a:pt x="1757421" y="927100"/>
                  </a:lnTo>
                  <a:lnTo>
                    <a:pt x="1781195" y="965200"/>
                  </a:lnTo>
                  <a:lnTo>
                    <a:pt x="1803315" y="1016000"/>
                  </a:lnTo>
                  <a:lnTo>
                    <a:pt x="1823802" y="1054100"/>
                  </a:lnTo>
                  <a:lnTo>
                    <a:pt x="1842680" y="1092200"/>
                  </a:lnTo>
                  <a:lnTo>
                    <a:pt x="1859970" y="1143000"/>
                  </a:lnTo>
                  <a:lnTo>
                    <a:pt x="1875695" y="1181100"/>
                  </a:lnTo>
                  <a:lnTo>
                    <a:pt x="1889877" y="1219200"/>
                  </a:lnTo>
                  <a:lnTo>
                    <a:pt x="1902539" y="1270000"/>
                  </a:lnTo>
                  <a:lnTo>
                    <a:pt x="1913702" y="1308100"/>
                  </a:lnTo>
                  <a:lnTo>
                    <a:pt x="1923389" y="1346200"/>
                  </a:lnTo>
                  <a:lnTo>
                    <a:pt x="1931623" y="1384300"/>
                  </a:lnTo>
                  <a:lnTo>
                    <a:pt x="1938426" y="1435100"/>
                  </a:lnTo>
                  <a:lnTo>
                    <a:pt x="1940801" y="1447800"/>
                  </a:lnTo>
                  <a:lnTo>
                    <a:pt x="1955050" y="1435100"/>
                  </a:lnTo>
                  <a:lnTo>
                    <a:pt x="1998421" y="1422400"/>
                  </a:lnTo>
                  <a:lnTo>
                    <a:pt x="2043140" y="1422400"/>
                  </a:lnTo>
                  <a:lnTo>
                    <a:pt x="2088841" y="1409700"/>
                  </a:lnTo>
                  <a:lnTo>
                    <a:pt x="1959546" y="1409700"/>
                  </a:lnTo>
                  <a:lnTo>
                    <a:pt x="1952133" y="1371600"/>
                  </a:lnTo>
                  <a:lnTo>
                    <a:pt x="1943301" y="1333500"/>
                  </a:lnTo>
                  <a:lnTo>
                    <a:pt x="1933029" y="1282700"/>
                  </a:lnTo>
                  <a:lnTo>
                    <a:pt x="1921296" y="1244600"/>
                  </a:lnTo>
                  <a:lnTo>
                    <a:pt x="1908080" y="1206500"/>
                  </a:lnTo>
                  <a:lnTo>
                    <a:pt x="1893360" y="1155700"/>
                  </a:lnTo>
                  <a:lnTo>
                    <a:pt x="1877112" y="1117600"/>
                  </a:lnTo>
                  <a:lnTo>
                    <a:pt x="1859317" y="1079500"/>
                  </a:lnTo>
                  <a:lnTo>
                    <a:pt x="1839952" y="1028700"/>
                  </a:lnTo>
                  <a:lnTo>
                    <a:pt x="1818995" y="990600"/>
                  </a:lnTo>
                  <a:lnTo>
                    <a:pt x="1796425" y="952500"/>
                  </a:lnTo>
                  <a:lnTo>
                    <a:pt x="1772221" y="901700"/>
                  </a:lnTo>
                  <a:lnTo>
                    <a:pt x="1746360" y="863600"/>
                  </a:lnTo>
                  <a:lnTo>
                    <a:pt x="1718821" y="825500"/>
                  </a:lnTo>
                  <a:lnTo>
                    <a:pt x="1689582" y="787400"/>
                  </a:lnTo>
                  <a:lnTo>
                    <a:pt x="1658622" y="749300"/>
                  </a:lnTo>
                  <a:lnTo>
                    <a:pt x="1625919" y="698500"/>
                  </a:lnTo>
                  <a:lnTo>
                    <a:pt x="1591451" y="673100"/>
                  </a:lnTo>
                  <a:lnTo>
                    <a:pt x="1555197" y="635000"/>
                  </a:lnTo>
                  <a:lnTo>
                    <a:pt x="1517134" y="596900"/>
                  </a:lnTo>
                  <a:lnTo>
                    <a:pt x="1477242" y="558800"/>
                  </a:lnTo>
                  <a:lnTo>
                    <a:pt x="1435498" y="533400"/>
                  </a:lnTo>
                  <a:lnTo>
                    <a:pt x="1391882" y="508000"/>
                  </a:lnTo>
                  <a:lnTo>
                    <a:pt x="1346371" y="469900"/>
                  </a:lnTo>
                  <a:lnTo>
                    <a:pt x="1298943" y="444500"/>
                  </a:lnTo>
                  <a:lnTo>
                    <a:pt x="1252903" y="431800"/>
                  </a:lnTo>
                  <a:lnTo>
                    <a:pt x="1206179" y="406400"/>
                  </a:lnTo>
                  <a:close/>
                </a:path>
                <a:path w="3665220" h="4089400">
                  <a:moveTo>
                    <a:pt x="2083909" y="1384300"/>
                  </a:moveTo>
                  <a:lnTo>
                    <a:pt x="2034235" y="1397000"/>
                  </a:lnTo>
                  <a:lnTo>
                    <a:pt x="2134264" y="1397000"/>
                  </a:lnTo>
                  <a:lnTo>
                    <a:pt x="2083909" y="1384300"/>
                  </a:lnTo>
                  <a:close/>
                </a:path>
                <a:path w="3665220" h="4089400">
                  <a:moveTo>
                    <a:pt x="525189" y="1041400"/>
                  </a:moveTo>
                  <a:lnTo>
                    <a:pt x="430465" y="1041400"/>
                  </a:lnTo>
                  <a:lnTo>
                    <a:pt x="567568" y="1079500"/>
                  </a:lnTo>
                  <a:lnTo>
                    <a:pt x="612952" y="1104900"/>
                  </a:lnTo>
                  <a:lnTo>
                    <a:pt x="629005" y="1104900"/>
                  </a:lnTo>
                  <a:lnTo>
                    <a:pt x="651764" y="1117600"/>
                  </a:lnTo>
                  <a:lnTo>
                    <a:pt x="646861" y="1092200"/>
                  </a:lnTo>
                  <a:lnTo>
                    <a:pt x="644803" y="1079500"/>
                  </a:lnTo>
                  <a:lnTo>
                    <a:pt x="618350" y="1079500"/>
                  </a:lnTo>
                  <a:lnTo>
                    <a:pt x="572105" y="1054100"/>
                  </a:lnTo>
                  <a:lnTo>
                    <a:pt x="525189" y="1041400"/>
                  </a:lnTo>
                  <a:close/>
                </a:path>
                <a:path w="3665220" h="4089400">
                  <a:moveTo>
                    <a:pt x="628983" y="876300"/>
                  </a:moveTo>
                  <a:lnTo>
                    <a:pt x="604342" y="876300"/>
                  </a:lnTo>
                  <a:lnTo>
                    <a:pt x="604055" y="889000"/>
                  </a:lnTo>
                  <a:lnTo>
                    <a:pt x="603821" y="889000"/>
                  </a:lnTo>
                  <a:lnTo>
                    <a:pt x="604527" y="952500"/>
                  </a:lnTo>
                  <a:lnTo>
                    <a:pt x="607291" y="990600"/>
                  </a:lnTo>
                  <a:lnTo>
                    <a:pt x="611899" y="1028700"/>
                  </a:lnTo>
                  <a:lnTo>
                    <a:pt x="618350" y="1079500"/>
                  </a:lnTo>
                  <a:lnTo>
                    <a:pt x="644803" y="1079500"/>
                  </a:lnTo>
                  <a:lnTo>
                    <a:pt x="638628" y="1041400"/>
                  </a:lnTo>
                  <a:lnTo>
                    <a:pt x="632737" y="1003300"/>
                  </a:lnTo>
                  <a:lnTo>
                    <a:pt x="629197" y="952500"/>
                  </a:lnTo>
                  <a:lnTo>
                    <a:pt x="628015" y="901700"/>
                  </a:lnTo>
                  <a:lnTo>
                    <a:pt x="628983" y="876300"/>
                  </a:lnTo>
                  <a:close/>
                </a:path>
                <a:path w="3665220" h="4089400">
                  <a:moveTo>
                    <a:pt x="1064977" y="381000"/>
                  </a:moveTo>
                  <a:lnTo>
                    <a:pt x="1018592" y="381000"/>
                  </a:lnTo>
                  <a:lnTo>
                    <a:pt x="973061" y="393700"/>
                  </a:lnTo>
                  <a:lnTo>
                    <a:pt x="1111908" y="393700"/>
                  </a:lnTo>
                  <a:lnTo>
                    <a:pt x="1064977" y="381000"/>
                  </a:lnTo>
                  <a:close/>
                </a:path>
              </a:pathLst>
            </a:custGeom>
            <a:solidFill>
              <a:srgbClr val="1C00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3496" rIns="0" bIns="0" rtlCol="0" vert="horz">
            <a:spAutoFit/>
          </a:bodyPr>
          <a:lstStyle/>
          <a:p>
            <a:pPr marL="7536815">
              <a:lnSpc>
                <a:spcPct val="100000"/>
              </a:lnSpc>
              <a:spcBef>
                <a:spcPts val="100"/>
              </a:spcBef>
            </a:pPr>
            <a:r>
              <a:rPr dirty="0" sz="6550" spc="-770"/>
              <a:t>O</a:t>
            </a:r>
            <a:r>
              <a:rPr dirty="0" sz="6550" spc="-915"/>
              <a:t>B</a:t>
            </a:r>
            <a:r>
              <a:rPr dirty="0" sz="6550" spc="-880"/>
              <a:t>JE</a:t>
            </a:r>
            <a:r>
              <a:rPr dirty="0" sz="6550" spc="-1010"/>
              <a:t>C</a:t>
            </a:r>
            <a:r>
              <a:rPr dirty="0" sz="6550" spc="-805"/>
              <a:t>T</a:t>
            </a:r>
            <a:r>
              <a:rPr dirty="0" sz="6550" spc="-830"/>
              <a:t>I</a:t>
            </a:r>
            <a:r>
              <a:rPr dirty="0" sz="6550" spc="-805"/>
              <a:t>V</a:t>
            </a:r>
            <a:r>
              <a:rPr dirty="0" sz="6550" spc="-885"/>
              <a:t>E</a:t>
            </a:r>
            <a:r>
              <a:rPr dirty="0" sz="6550" spc="-465"/>
              <a:t>S</a:t>
            </a:r>
            <a:endParaRPr sz="6550"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53950" rIns="0" bIns="0" rtlCol="0" vert="horz">
            <a:spAutoFit/>
          </a:bodyPr>
          <a:lstStyle/>
          <a:p>
            <a:pPr marL="6916420" indent="-229870">
              <a:lnSpc>
                <a:spcPct val="100000"/>
              </a:lnSpc>
              <a:spcBef>
                <a:spcPts val="550"/>
              </a:spcBef>
              <a:buSzPct val="72000"/>
              <a:buAutoNum type="arabicPeriod"/>
              <a:tabLst>
                <a:tab pos="6917055" algn="l"/>
              </a:tabLst>
            </a:pPr>
            <a:r>
              <a:rPr dirty="0" sz="2500" spc="85"/>
              <a:t>System</a:t>
            </a:r>
            <a:r>
              <a:rPr dirty="0" sz="2500" spc="-395"/>
              <a:t> </a:t>
            </a:r>
            <a:r>
              <a:rPr dirty="0" sz="2500" spc="50"/>
              <a:t>Resource</a:t>
            </a:r>
            <a:r>
              <a:rPr dirty="0" sz="2500" spc="-395"/>
              <a:t> </a:t>
            </a:r>
            <a:r>
              <a:rPr dirty="0" sz="2500" spc="-10"/>
              <a:t>Monitoring:</a:t>
            </a:r>
            <a:endParaRPr sz="2500"/>
          </a:p>
          <a:p>
            <a:pPr marL="7085330">
              <a:lnSpc>
                <a:spcPct val="100000"/>
              </a:lnSpc>
              <a:spcBef>
                <a:spcPts val="455"/>
              </a:spcBef>
            </a:pPr>
            <a:r>
              <a:rPr dirty="0" sz="2500" spc="-10"/>
              <a:t>Monitor</a:t>
            </a:r>
            <a:r>
              <a:rPr dirty="0" sz="2500" spc="-325"/>
              <a:t> </a:t>
            </a:r>
            <a:r>
              <a:rPr dirty="0" sz="2500"/>
              <a:t>CPU,</a:t>
            </a:r>
            <a:r>
              <a:rPr dirty="0" sz="2500" spc="-320"/>
              <a:t> </a:t>
            </a:r>
            <a:r>
              <a:rPr dirty="0" sz="2500"/>
              <a:t>memory,</a:t>
            </a:r>
            <a:r>
              <a:rPr dirty="0" sz="2500" spc="-320"/>
              <a:t> </a:t>
            </a:r>
            <a:r>
              <a:rPr dirty="0" sz="2500" spc="65"/>
              <a:t>and</a:t>
            </a:r>
            <a:r>
              <a:rPr dirty="0" sz="2500" spc="-320"/>
              <a:t> </a:t>
            </a:r>
            <a:r>
              <a:rPr dirty="0" sz="2500" spc="-45"/>
              <a:t>disk</a:t>
            </a:r>
            <a:r>
              <a:rPr dirty="0" sz="2500" spc="-320"/>
              <a:t> </a:t>
            </a:r>
            <a:r>
              <a:rPr dirty="0" sz="2500" spc="-10"/>
              <a:t>utilization.</a:t>
            </a:r>
            <a:endParaRPr sz="2500"/>
          </a:p>
          <a:p>
            <a:pPr marL="7018655" indent="-321945">
              <a:lnSpc>
                <a:spcPct val="100000"/>
              </a:lnSpc>
              <a:spcBef>
                <a:spcPts val="455"/>
              </a:spcBef>
              <a:buSzPct val="72000"/>
              <a:buAutoNum type="arabicPeriod" startAt="2"/>
              <a:tabLst>
                <a:tab pos="7019290" algn="l"/>
              </a:tabLst>
            </a:pPr>
            <a:r>
              <a:rPr dirty="0" sz="2500" spc="55"/>
              <a:t>Process</a:t>
            </a:r>
            <a:r>
              <a:rPr dirty="0" sz="2500" spc="-375"/>
              <a:t> </a:t>
            </a:r>
            <a:r>
              <a:rPr dirty="0" sz="2500" spc="-10"/>
              <a:t>Monitoring:</a:t>
            </a:r>
            <a:endParaRPr sz="2500"/>
          </a:p>
          <a:p>
            <a:pPr marL="7150100">
              <a:lnSpc>
                <a:spcPct val="100000"/>
              </a:lnSpc>
              <a:spcBef>
                <a:spcPts val="455"/>
              </a:spcBef>
            </a:pPr>
            <a:r>
              <a:rPr dirty="0" sz="2500" spc="-35"/>
              <a:t>Display</a:t>
            </a:r>
            <a:r>
              <a:rPr dirty="0" sz="2500" spc="-305"/>
              <a:t> </a:t>
            </a:r>
            <a:r>
              <a:rPr dirty="0" sz="2500" spc="-30"/>
              <a:t>running</a:t>
            </a:r>
            <a:r>
              <a:rPr dirty="0" sz="2500" spc="-300"/>
              <a:t> </a:t>
            </a:r>
            <a:r>
              <a:rPr dirty="0" sz="2500"/>
              <a:t>processes</a:t>
            </a:r>
            <a:r>
              <a:rPr dirty="0" sz="2500" spc="-300"/>
              <a:t> </a:t>
            </a:r>
            <a:r>
              <a:rPr dirty="0" sz="2500" spc="65"/>
              <a:t>and</a:t>
            </a:r>
            <a:r>
              <a:rPr dirty="0" sz="2500" spc="-300"/>
              <a:t> </a:t>
            </a:r>
            <a:r>
              <a:rPr dirty="0" sz="2500"/>
              <a:t>their</a:t>
            </a:r>
            <a:r>
              <a:rPr dirty="0" sz="2500" spc="-300"/>
              <a:t> </a:t>
            </a:r>
            <a:r>
              <a:rPr dirty="0" sz="2500"/>
              <a:t>corresponding</a:t>
            </a:r>
            <a:r>
              <a:rPr dirty="0" sz="2500" spc="-300"/>
              <a:t> </a:t>
            </a:r>
            <a:r>
              <a:rPr dirty="0" sz="2500" spc="45"/>
              <a:t>process</a:t>
            </a:r>
            <a:r>
              <a:rPr dirty="0" sz="2500" spc="-300"/>
              <a:t> </a:t>
            </a:r>
            <a:r>
              <a:rPr dirty="0" sz="2500" spc="-40"/>
              <a:t>IDs</a:t>
            </a:r>
            <a:r>
              <a:rPr dirty="0" sz="2500" spc="-300"/>
              <a:t> </a:t>
            </a:r>
            <a:r>
              <a:rPr dirty="0" sz="2500" spc="-10"/>
              <a:t>(PIDs).</a:t>
            </a:r>
            <a:endParaRPr sz="2500"/>
          </a:p>
          <a:p>
            <a:pPr marL="7007225" indent="-310515">
              <a:lnSpc>
                <a:spcPct val="100000"/>
              </a:lnSpc>
              <a:spcBef>
                <a:spcPts val="459"/>
              </a:spcBef>
              <a:buSzPct val="72000"/>
              <a:buAutoNum type="arabicPeriod" startAt="3"/>
              <a:tabLst>
                <a:tab pos="7007859" algn="l"/>
              </a:tabLst>
            </a:pPr>
            <a:r>
              <a:rPr dirty="0" sz="2500" spc="55"/>
              <a:t>Process</a:t>
            </a:r>
            <a:r>
              <a:rPr dirty="0" sz="2500" spc="-375"/>
              <a:t> </a:t>
            </a:r>
            <a:r>
              <a:rPr dirty="0" sz="2500" spc="60"/>
              <a:t>Watchdog:</a:t>
            </a:r>
            <a:endParaRPr sz="2500"/>
          </a:p>
          <a:p>
            <a:pPr marL="7150100">
              <a:lnSpc>
                <a:spcPct val="100000"/>
              </a:lnSpc>
              <a:spcBef>
                <a:spcPts val="455"/>
              </a:spcBef>
            </a:pPr>
            <a:r>
              <a:rPr dirty="0" sz="2500" spc="-10"/>
              <a:t>Monitor</a:t>
            </a:r>
            <a:r>
              <a:rPr dirty="0" sz="2500" spc="-315"/>
              <a:t> </a:t>
            </a:r>
            <a:r>
              <a:rPr dirty="0" sz="2500" spc="60"/>
              <a:t>selected</a:t>
            </a:r>
            <a:r>
              <a:rPr dirty="0" sz="2500" spc="-310"/>
              <a:t> </a:t>
            </a:r>
            <a:r>
              <a:rPr dirty="0" sz="2500"/>
              <a:t>processes</a:t>
            </a:r>
            <a:r>
              <a:rPr dirty="0" sz="2500" spc="-310"/>
              <a:t> </a:t>
            </a:r>
            <a:r>
              <a:rPr dirty="0" sz="2500" spc="65"/>
              <a:t>and</a:t>
            </a:r>
            <a:r>
              <a:rPr dirty="0" sz="2500" spc="-315"/>
              <a:t> </a:t>
            </a:r>
            <a:r>
              <a:rPr dirty="0" sz="2500" spc="-10"/>
              <a:t>identify</a:t>
            </a:r>
            <a:r>
              <a:rPr dirty="0" sz="2500" spc="-310"/>
              <a:t> </a:t>
            </a:r>
            <a:r>
              <a:rPr dirty="0" sz="2500" spc="60"/>
              <a:t>changes</a:t>
            </a:r>
            <a:r>
              <a:rPr dirty="0" sz="2500" spc="-310"/>
              <a:t> </a:t>
            </a:r>
            <a:r>
              <a:rPr dirty="0" sz="2500"/>
              <a:t>or</a:t>
            </a:r>
            <a:r>
              <a:rPr dirty="0" sz="2500" spc="-315"/>
              <a:t> </a:t>
            </a:r>
            <a:r>
              <a:rPr dirty="0" sz="2500" spc="-10"/>
              <a:t>failures.</a:t>
            </a:r>
            <a:endParaRPr sz="2500"/>
          </a:p>
          <a:p>
            <a:pPr marL="7008495" indent="-311785">
              <a:lnSpc>
                <a:spcPct val="100000"/>
              </a:lnSpc>
              <a:spcBef>
                <a:spcPts val="455"/>
              </a:spcBef>
              <a:buSzPct val="72000"/>
              <a:buAutoNum type="arabicPeriod" startAt="4"/>
              <a:tabLst>
                <a:tab pos="7009130" algn="l"/>
              </a:tabLst>
            </a:pPr>
            <a:r>
              <a:rPr dirty="0" sz="2500" spc="60"/>
              <a:t>Event</a:t>
            </a:r>
            <a:r>
              <a:rPr dirty="0" sz="2500" spc="-395"/>
              <a:t> </a:t>
            </a:r>
            <a:r>
              <a:rPr dirty="0" sz="2500" spc="-10"/>
              <a:t>Monitoring:</a:t>
            </a:r>
            <a:endParaRPr sz="2500"/>
          </a:p>
          <a:p>
            <a:pPr marL="7150100">
              <a:lnSpc>
                <a:spcPct val="100000"/>
              </a:lnSpc>
              <a:spcBef>
                <a:spcPts val="455"/>
              </a:spcBef>
            </a:pPr>
            <a:r>
              <a:rPr dirty="0" sz="2500" spc="-10"/>
              <a:t>Monitor</a:t>
            </a:r>
            <a:r>
              <a:rPr dirty="0" sz="2500" spc="-350"/>
              <a:t> </a:t>
            </a:r>
            <a:r>
              <a:rPr dirty="0" sz="2500"/>
              <a:t>relevant</a:t>
            </a:r>
            <a:r>
              <a:rPr dirty="0" sz="2500" spc="-350"/>
              <a:t> </a:t>
            </a:r>
            <a:r>
              <a:rPr dirty="0" sz="2500" spc="55"/>
              <a:t>system</a:t>
            </a:r>
            <a:r>
              <a:rPr dirty="0" sz="2500" spc="-345"/>
              <a:t> </a:t>
            </a:r>
            <a:r>
              <a:rPr dirty="0" sz="2500" spc="65"/>
              <a:t>and</a:t>
            </a:r>
            <a:r>
              <a:rPr dirty="0" sz="2500" spc="-350"/>
              <a:t> </a:t>
            </a:r>
            <a:r>
              <a:rPr dirty="0" sz="2500" spc="60"/>
              <a:t>device</a:t>
            </a:r>
            <a:r>
              <a:rPr dirty="0" sz="2500" spc="-350"/>
              <a:t> </a:t>
            </a:r>
            <a:r>
              <a:rPr dirty="0" sz="2500" spc="-10"/>
              <a:t>events.</a:t>
            </a:r>
            <a:endParaRPr sz="2500"/>
          </a:p>
          <a:p>
            <a:pPr marL="7005320" indent="-308610">
              <a:lnSpc>
                <a:spcPct val="100000"/>
              </a:lnSpc>
              <a:spcBef>
                <a:spcPts val="459"/>
              </a:spcBef>
              <a:buSzPct val="72000"/>
              <a:buAutoNum type="arabicPeriod" startAt="5"/>
              <a:tabLst>
                <a:tab pos="7005955" algn="l"/>
              </a:tabLst>
            </a:pPr>
            <a:r>
              <a:rPr dirty="0" sz="2500" spc="-25"/>
              <a:t>Logging</a:t>
            </a:r>
            <a:r>
              <a:rPr dirty="0" sz="2500" spc="-365"/>
              <a:t> </a:t>
            </a:r>
            <a:r>
              <a:rPr dirty="0" sz="2500" spc="50"/>
              <a:t>&amp;</a:t>
            </a:r>
            <a:r>
              <a:rPr dirty="0" sz="2500" spc="-365"/>
              <a:t> </a:t>
            </a:r>
            <a:r>
              <a:rPr dirty="0" sz="2500" spc="-10"/>
              <a:t>Reporting:</a:t>
            </a:r>
            <a:endParaRPr sz="2500"/>
          </a:p>
          <a:p>
            <a:pPr marL="7150100">
              <a:lnSpc>
                <a:spcPct val="100000"/>
              </a:lnSpc>
              <a:spcBef>
                <a:spcPts val="455"/>
              </a:spcBef>
            </a:pPr>
            <a:r>
              <a:rPr dirty="0" sz="2500" spc="65"/>
              <a:t>Record</a:t>
            </a:r>
            <a:r>
              <a:rPr dirty="0" sz="2500" spc="-340"/>
              <a:t> </a:t>
            </a:r>
            <a:r>
              <a:rPr dirty="0" sz="2500"/>
              <a:t>important</a:t>
            </a:r>
            <a:r>
              <a:rPr dirty="0" sz="2500" spc="-335"/>
              <a:t> </a:t>
            </a:r>
            <a:r>
              <a:rPr dirty="0" sz="2500" spc="-20"/>
              <a:t>monitoring</a:t>
            </a:r>
            <a:r>
              <a:rPr dirty="0" sz="2500" spc="-335"/>
              <a:t> </a:t>
            </a:r>
            <a:r>
              <a:rPr dirty="0" sz="2500" spc="-10"/>
              <a:t>information</a:t>
            </a:r>
            <a:r>
              <a:rPr dirty="0" sz="2500" spc="-335"/>
              <a:t> </a:t>
            </a:r>
            <a:r>
              <a:rPr dirty="0" sz="2500"/>
              <a:t>for</a:t>
            </a:r>
            <a:r>
              <a:rPr dirty="0" sz="2500" spc="-340"/>
              <a:t> </a:t>
            </a:r>
            <a:r>
              <a:rPr dirty="0" sz="2500" spc="-25"/>
              <a:t>analysis</a:t>
            </a:r>
            <a:r>
              <a:rPr dirty="0" sz="2500" spc="-335"/>
              <a:t> </a:t>
            </a:r>
            <a:r>
              <a:rPr dirty="0" sz="2500" spc="65"/>
              <a:t>and</a:t>
            </a:r>
            <a:r>
              <a:rPr dirty="0" sz="2500" spc="-335"/>
              <a:t> </a:t>
            </a:r>
            <a:r>
              <a:rPr dirty="0" sz="2500" spc="-10"/>
              <a:t>reference.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2621915"/>
              <a:ext cx="2914650" cy="385445"/>
            </a:xfrm>
            <a:custGeom>
              <a:avLst/>
              <a:gdLst/>
              <a:ahLst/>
              <a:cxnLst/>
              <a:rect l="l" t="t" r="r" b="b"/>
              <a:pathLst>
                <a:path w="2914650" h="385444">
                  <a:moveTo>
                    <a:pt x="2398852" y="271132"/>
                  </a:moveTo>
                  <a:lnTo>
                    <a:pt x="0" y="271132"/>
                  </a:lnTo>
                  <a:lnTo>
                    <a:pt x="0" y="309117"/>
                  </a:lnTo>
                  <a:lnTo>
                    <a:pt x="18142" y="309117"/>
                  </a:lnTo>
                  <a:lnTo>
                    <a:pt x="0" y="327344"/>
                  </a:lnTo>
                  <a:lnTo>
                    <a:pt x="0" y="384977"/>
                  </a:lnTo>
                  <a:lnTo>
                    <a:pt x="74205" y="310426"/>
                  </a:lnTo>
                  <a:lnTo>
                    <a:pt x="2398852" y="310426"/>
                  </a:lnTo>
                  <a:lnTo>
                    <a:pt x="2398852" y="271132"/>
                  </a:lnTo>
                  <a:close/>
                </a:path>
                <a:path w="2914650" h="385444">
                  <a:moveTo>
                    <a:pt x="2813443" y="0"/>
                  </a:moveTo>
                  <a:lnTo>
                    <a:pt x="2773681" y="8185"/>
                  </a:lnTo>
                  <a:lnTo>
                    <a:pt x="2741739" y="30124"/>
                  </a:lnTo>
                  <a:lnTo>
                    <a:pt x="2718452" y="66966"/>
                  </a:lnTo>
                  <a:lnTo>
                    <a:pt x="2714325" y="81330"/>
                  </a:lnTo>
                  <a:lnTo>
                    <a:pt x="1145798" y="81330"/>
                  </a:lnTo>
                  <a:lnTo>
                    <a:pt x="956866" y="271132"/>
                  </a:lnTo>
                  <a:lnTo>
                    <a:pt x="1011624" y="271132"/>
                  </a:lnTo>
                  <a:lnTo>
                    <a:pt x="1162864" y="120497"/>
                  </a:lnTo>
                  <a:lnTo>
                    <a:pt x="2752517" y="120497"/>
                  </a:lnTo>
                  <a:lnTo>
                    <a:pt x="2750763" y="114650"/>
                  </a:lnTo>
                  <a:lnTo>
                    <a:pt x="2749562" y="102171"/>
                  </a:lnTo>
                  <a:lnTo>
                    <a:pt x="2750763" y="89684"/>
                  </a:lnTo>
                  <a:lnTo>
                    <a:pt x="2777306" y="49795"/>
                  </a:lnTo>
                  <a:lnTo>
                    <a:pt x="2812148" y="39293"/>
                  </a:lnTo>
                  <a:lnTo>
                    <a:pt x="2892753" y="39293"/>
                  </a:lnTo>
                  <a:lnTo>
                    <a:pt x="2885147" y="30124"/>
                  </a:lnTo>
                  <a:lnTo>
                    <a:pt x="2870095" y="17680"/>
                  </a:lnTo>
                  <a:lnTo>
                    <a:pt x="2852719" y="8185"/>
                  </a:lnTo>
                  <a:lnTo>
                    <a:pt x="2833632" y="2128"/>
                  </a:lnTo>
                  <a:lnTo>
                    <a:pt x="2813443" y="0"/>
                  </a:lnTo>
                  <a:close/>
                </a:path>
                <a:path w="2914650" h="385444">
                  <a:moveTo>
                    <a:pt x="2752517" y="120497"/>
                  </a:moveTo>
                  <a:lnTo>
                    <a:pt x="2714358" y="120497"/>
                  </a:lnTo>
                  <a:lnTo>
                    <a:pt x="2717718" y="135708"/>
                  </a:lnTo>
                  <a:lnTo>
                    <a:pt x="2741739" y="174205"/>
                  </a:lnTo>
                  <a:lnTo>
                    <a:pt x="2774167" y="196145"/>
                  </a:lnTo>
                  <a:lnTo>
                    <a:pt x="2813443" y="204330"/>
                  </a:lnTo>
                  <a:lnTo>
                    <a:pt x="2834184" y="202202"/>
                  </a:lnTo>
                  <a:lnTo>
                    <a:pt x="2853210" y="196145"/>
                  </a:lnTo>
                  <a:lnTo>
                    <a:pt x="2870279" y="186649"/>
                  </a:lnTo>
                  <a:lnTo>
                    <a:pt x="2885147" y="174205"/>
                  </a:lnTo>
                  <a:lnTo>
                    <a:pt x="2892660" y="165036"/>
                  </a:lnTo>
                  <a:lnTo>
                    <a:pt x="2812148" y="165036"/>
                  </a:lnTo>
                  <a:lnTo>
                    <a:pt x="2799718" y="163828"/>
                  </a:lnTo>
                  <a:lnTo>
                    <a:pt x="2760010" y="137161"/>
                  </a:lnTo>
                  <a:lnTo>
                    <a:pt x="2754286" y="126396"/>
                  </a:lnTo>
                  <a:lnTo>
                    <a:pt x="2752517" y="120497"/>
                  </a:lnTo>
                  <a:close/>
                </a:path>
                <a:path w="2914650" h="385444">
                  <a:moveTo>
                    <a:pt x="2892753" y="39293"/>
                  </a:moveTo>
                  <a:lnTo>
                    <a:pt x="2812148" y="39293"/>
                  </a:lnTo>
                  <a:lnTo>
                    <a:pt x="2824570" y="40501"/>
                  </a:lnTo>
                  <a:lnTo>
                    <a:pt x="2836262" y="44043"/>
                  </a:lnTo>
                  <a:lnTo>
                    <a:pt x="2869996" y="77935"/>
                  </a:lnTo>
                  <a:lnTo>
                    <a:pt x="2874721" y="102171"/>
                  </a:lnTo>
                  <a:lnTo>
                    <a:pt x="2873519" y="114650"/>
                  </a:lnTo>
                  <a:lnTo>
                    <a:pt x="2846977" y="154535"/>
                  </a:lnTo>
                  <a:lnTo>
                    <a:pt x="2812148" y="165036"/>
                  </a:lnTo>
                  <a:lnTo>
                    <a:pt x="2892660" y="165036"/>
                  </a:lnTo>
                  <a:lnTo>
                    <a:pt x="2897539" y="159082"/>
                  </a:lnTo>
                  <a:lnTo>
                    <a:pt x="2906994" y="141627"/>
                  </a:lnTo>
                  <a:lnTo>
                    <a:pt x="2913026" y="122452"/>
                  </a:lnTo>
                  <a:lnTo>
                    <a:pt x="2914649" y="106912"/>
                  </a:lnTo>
                  <a:lnTo>
                    <a:pt x="2914649" y="97299"/>
                  </a:lnTo>
                  <a:lnTo>
                    <a:pt x="2913026" y="81330"/>
                  </a:lnTo>
                  <a:lnTo>
                    <a:pt x="2906994" y="62214"/>
                  </a:lnTo>
                  <a:lnTo>
                    <a:pt x="2897539" y="45064"/>
                  </a:lnTo>
                  <a:lnTo>
                    <a:pt x="2892753" y="39293"/>
                  </a:lnTo>
                  <a:close/>
                </a:path>
              </a:pathLst>
            </a:custGeom>
            <a:solidFill>
              <a:srgbClr val="40AAE1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54200" y="2312898"/>
              <a:ext cx="4733797" cy="61468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71169" rIns="0" bIns="0" rtlCol="0" vert="horz">
            <a:spAutoFit/>
          </a:bodyPr>
          <a:lstStyle/>
          <a:p>
            <a:pPr marL="3745865">
              <a:lnSpc>
                <a:spcPct val="100000"/>
              </a:lnSpc>
              <a:spcBef>
                <a:spcPts val="114"/>
              </a:spcBef>
            </a:pPr>
            <a:r>
              <a:rPr dirty="0" sz="6200" spc="-610"/>
              <a:t>TECHNOLOGIES</a:t>
            </a:r>
            <a:r>
              <a:rPr dirty="0" sz="6200" spc="-1135"/>
              <a:t> </a:t>
            </a:r>
            <a:r>
              <a:rPr dirty="0" sz="6200" spc="-695"/>
              <a:t>USED</a:t>
            </a:r>
            <a:endParaRPr sz="62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60208"/>
            <a:ext cx="4845049" cy="6146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80994" y="3347712"/>
            <a:ext cx="12285345" cy="2279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95"/>
              </a:spcBef>
            </a:pPr>
            <a:r>
              <a:rPr dirty="0" sz="2550" spc="-335">
                <a:solidFill>
                  <a:srgbClr val="EBF5FE"/>
                </a:solidFill>
                <a:latin typeface="Lucida Sans Unicode"/>
                <a:cs typeface="Lucida Sans Unicode"/>
              </a:rPr>
              <a:t>C++</a:t>
            </a:r>
            <a:r>
              <a:rPr dirty="0" sz="2550" spc="-3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765">
                <a:solidFill>
                  <a:srgbClr val="EBF5FE"/>
                </a:solidFill>
                <a:latin typeface="Lucida Sans Unicode"/>
                <a:cs typeface="Lucida Sans Unicode"/>
              </a:rPr>
              <a:t>—</a:t>
            </a:r>
            <a:r>
              <a:rPr dirty="0" sz="2550" spc="-3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90">
                <a:solidFill>
                  <a:srgbClr val="EBF5FE"/>
                </a:solidFill>
                <a:latin typeface="Lucida Sans Unicode"/>
                <a:cs typeface="Lucida Sans Unicode"/>
              </a:rPr>
              <a:t>Core</a:t>
            </a:r>
            <a:r>
              <a:rPr dirty="0" sz="2550" spc="-3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programming</a:t>
            </a:r>
            <a:r>
              <a:rPr dirty="0" sz="2550" spc="-3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language</a:t>
            </a:r>
            <a:r>
              <a:rPr dirty="0" sz="2550" spc="-3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used</a:t>
            </a:r>
            <a:r>
              <a:rPr dirty="0" sz="2550" spc="-3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5">
                <a:solidFill>
                  <a:srgbClr val="EBF5FE"/>
                </a:solidFill>
                <a:latin typeface="Lucida Sans Unicode"/>
                <a:cs typeface="Lucida Sans Unicode"/>
              </a:rPr>
              <a:t>to</a:t>
            </a:r>
            <a:r>
              <a:rPr dirty="0" sz="2550" spc="-3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develop</a:t>
            </a:r>
            <a:r>
              <a:rPr dirty="0" sz="2550" spc="-3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0">
                <a:solidFill>
                  <a:srgbClr val="EBF5FE"/>
                </a:solidFill>
                <a:latin typeface="Lucida Sans Unicode"/>
                <a:cs typeface="Lucida Sans Unicode"/>
              </a:rPr>
              <a:t>the</a:t>
            </a:r>
            <a:r>
              <a:rPr dirty="0" sz="2550" spc="-3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0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550" spc="-33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EBF5FE"/>
                </a:solidFill>
                <a:latin typeface="Lucida Sans Unicode"/>
                <a:cs typeface="Lucida Sans Unicode"/>
              </a:rPr>
              <a:t>application. </a:t>
            </a:r>
            <a:r>
              <a:rPr dirty="0" sz="2550" spc="-85">
                <a:solidFill>
                  <a:srgbClr val="EBF5FE"/>
                </a:solidFill>
                <a:latin typeface="Lucida Sans Unicode"/>
                <a:cs typeface="Lucida Sans Unicode"/>
              </a:rPr>
              <a:t>Linux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765">
                <a:solidFill>
                  <a:srgbClr val="EBF5FE"/>
                </a:solidFill>
                <a:latin typeface="Lucida Sans Unicode"/>
                <a:cs typeface="Lucida Sans Unicode"/>
              </a:rPr>
              <a:t>—</a:t>
            </a:r>
            <a:r>
              <a:rPr dirty="0" sz="2550" spc="-3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Operating</a:t>
            </a:r>
            <a:r>
              <a:rPr dirty="0" sz="2550" spc="-3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550" spc="-3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5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550" spc="-3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execution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environment</a:t>
            </a:r>
            <a:r>
              <a:rPr dirty="0" sz="2550" spc="-3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for</a:t>
            </a:r>
            <a:r>
              <a:rPr dirty="0" sz="2550" spc="-3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0">
                <a:solidFill>
                  <a:srgbClr val="EBF5FE"/>
                </a:solidFill>
                <a:latin typeface="Lucida Sans Unicode"/>
                <a:cs typeface="Lucida Sans Unicode"/>
              </a:rPr>
              <a:t>the</a:t>
            </a:r>
            <a:r>
              <a:rPr dirty="0" sz="2550" spc="-3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EBF5FE"/>
                </a:solidFill>
                <a:latin typeface="Lucida Sans Unicode"/>
                <a:cs typeface="Lucida Sans Unicode"/>
              </a:rPr>
              <a:t>project.</a:t>
            </a:r>
            <a:endParaRPr sz="2550">
              <a:latin typeface="Lucida Sans Unicode"/>
              <a:cs typeface="Lucida Sans Unicode"/>
            </a:endParaRPr>
          </a:p>
          <a:p>
            <a:pPr marL="12700" marR="207645">
              <a:lnSpc>
                <a:spcPct val="115999"/>
              </a:lnSpc>
            </a:pP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/proc</a:t>
            </a:r>
            <a:r>
              <a:rPr dirty="0" sz="255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Filesystem</a:t>
            </a:r>
            <a:r>
              <a:rPr dirty="0" sz="255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765">
                <a:solidFill>
                  <a:srgbClr val="EBF5FE"/>
                </a:solidFill>
                <a:latin typeface="Lucida Sans Unicode"/>
                <a:cs typeface="Lucida Sans Unicode"/>
              </a:rPr>
              <a:t>—</a:t>
            </a:r>
            <a:r>
              <a:rPr dirty="0" sz="255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0">
                <a:solidFill>
                  <a:srgbClr val="EBF5FE"/>
                </a:solidFill>
                <a:latin typeface="Lucida Sans Unicode"/>
                <a:cs typeface="Lucida Sans Unicode"/>
              </a:rPr>
              <a:t>Used</a:t>
            </a:r>
            <a:r>
              <a:rPr dirty="0" sz="255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5">
                <a:solidFill>
                  <a:srgbClr val="EBF5FE"/>
                </a:solidFill>
                <a:latin typeface="Lucida Sans Unicode"/>
                <a:cs typeface="Lucida Sans Unicode"/>
              </a:rPr>
              <a:t>to</a:t>
            </a:r>
            <a:r>
              <a:rPr dirty="0" sz="255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obtain</a:t>
            </a:r>
            <a:r>
              <a:rPr dirty="0" sz="255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55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5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55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0">
                <a:solidFill>
                  <a:srgbClr val="EBF5FE"/>
                </a:solidFill>
                <a:latin typeface="Lucida Sans Unicode"/>
                <a:cs typeface="Lucida Sans Unicode"/>
              </a:rPr>
              <a:t>process</a:t>
            </a:r>
            <a:r>
              <a:rPr dirty="0" sz="255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EBF5FE"/>
                </a:solidFill>
                <a:latin typeface="Lucida Sans Unicode"/>
                <a:cs typeface="Lucida Sans Unicode"/>
              </a:rPr>
              <a:t>information.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Command-</a:t>
            </a:r>
            <a:r>
              <a:rPr dirty="0" sz="2550" spc="-20">
                <a:solidFill>
                  <a:srgbClr val="EBF5FE"/>
                </a:solidFill>
                <a:latin typeface="Lucida Sans Unicode"/>
                <a:cs typeface="Lucida Sans Unicode"/>
              </a:rPr>
              <a:t>Line</a:t>
            </a:r>
            <a:r>
              <a:rPr dirty="0" sz="2550" spc="-34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0">
                <a:solidFill>
                  <a:srgbClr val="EBF5FE"/>
                </a:solidFill>
                <a:latin typeface="Lucida Sans Unicode"/>
                <a:cs typeface="Lucida Sans Unicode"/>
              </a:rPr>
              <a:t>Interface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90">
                <a:solidFill>
                  <a:srgbClr val="EBF5FE"/>
                </a:solidFill>
                <a:latin typeface="Lucida Sans Unicode"/>
                <a:cs typeface="Lucida Sans Unicode"/>
              </a:rPr>
              <a:t>(CLI)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765">
                <a:solidFill>
                  <a:srgbClr val="EBF5FE"/>
                </a:solidFill>
                <a:latin typeface="Lucida Sans Unicode"/>
                <a:cs typeface="Lucida Sans Unicode"/>
              </a:rPr>
              <a:t>—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Provides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interaction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with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0">
                <a:solidFill>
                  <a:srgbClr val="EBF5FE"/>
                </a:solidFill>
                <a:latin typeface="Lucida Sans Unicode"/>
                <a:cs typeface="Lucida Sans Unicode"/>
              </a:rPr>
              <a:t>the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0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EBF5FE"/>
                </a:solidFill>
                <a:latin typeface="Lucida Sans Unicode"/>
                <a:cs typeface="Lucida Sans Unicode"/>
              </a:rPr>
              <a:t>tool. </a:t>
            </a:r>
            <a:r>
              <a:rPr dirty="0" sz="2550" spc="60">
                <a:solidFill>
                  <a:srgbClr val="EBF5FE"/>
                </a:solidFill>
                <a:latin typeface="Lucida Sans Unicode"/>
                <a:cs typeface="Lucida Sans Unicode"/>
              </a:rPr>
              <a:t>Git</a:t>
            </a:r>
            <a:r>
              <a:rPr dirty="0" sz="2550" spc="-34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&amp;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GitHub</a:t>
            </a:r>
            <a:r>
              <a:rPr dirty="0" sz="2550" spc="-34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765">
                <a:solidFill>
                  <a:srgbClr val="EBF5FE"/>
                </a:solidFill>
                <a:latin typeface="Lucida Sans Unicode"/>
                <a:cs typeface="Lucida Sans Unicode"/>
              </a:rPr>
              <a:t>—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0">
                <a:solidFill>
                  <a:srgbClr val="EBF5FE"/>
                </a:solidFill>
                <a:latin typeface="Lucida Sans Unicode"/>
                <a:cs typeface="Lucida Sans Unicode"/>
              </a:rPr>
              <a:t>Used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for</a:t>
            </a:r>
            <a:r>
              <a:rPr dirty="0" sz="2550" spc="-34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EBF5FE"/>
                </a:solidFill>
                <a:latin typeface="Lucida Sans Unicode"/>
                <a:cs typeface="Lucida Sans Unicode"/>
              </a:rPr>
              <a:t>version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control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5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550" spc="-34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project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EBF5FE"/>
                </a:solidFill>
                <a:latin typeface="Lucida Sans Unicode"/>
                <a:cs typeface="Lucida Sans Unicode"/>
              </a:rPr>
              <a:t>repository</a:t>
            </a:r>
            <a:r>
              <a:rPr dirty="0" sz="255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EBF5FE"/>
                </a:solidFill>
                <a:latin typeface="Lucida Sans Unicode"/>
                <a:cs typeface="Lucida Sans Unicode"/>
              </a:rPr>
              <a:t>management.</a:t>
            </a:r>
            <a:endParaRPr sz="2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2621915"/>
              <a:ext cx="2914650" cy="385445"/>
            </a:xfrm>
            <a:custGeom>
              <a:avLst/>
              <a:gdLst/>
              <a:ahLst/>
              <a:cxnLst/>
              <a:rect l="l" t="t" r="r" b="b"/>
              <a:pathLst>
                <a:path w="2914650" h="385444">
                  <a:moveTo>
                    <a:pt x="2398852" y="271132"/>
                  </a:moveTo>
                  <a:lnTo>
                    <a:pt x="0" y="271132"/>
                  </a:lnTo>
                  <a:lnTo>
                    <a:pt x="0" y="309117"/>
                  </a:lnTo>
                  <a:lnTo>
                    <a:pt x="18142" y="309117"/>
                  </a:lnTo>
                  <a:lnTo>
                    <a:pt x="0" y="327344"/>
                  </a:lnTo>
                  <a:lnTo>
                    <a:pt x="0" y="384977"/>
                  </a:lnTo>
                  <a:lnTo>
                    <a:pt x="74205" y="310426"/>
                  </a:lnTo>
                  <a:lnTo>
                    <a:pt x="2398852" y="310426"/>
                  </a:lnTo>
                  <a:lnTo>
                    <a:pt x="2398852" y="271132"/>
                  </a:lnTo>
                  <a:close/>
                </a:path>
                <a:path w="2914650" h="385444">
                  <a:moveTo>
                    <a:pt x="2813443" y="0"/>
                  </a:moveTo>
                  <a:lnTo>
                    <a:pt x="2773681" y="8185"/>
                  </a:lnTo>
                  <a:lnTo>
                    <a:pt x="2741739" y="30124"/>
                  </a:lnTo>
                  <a:lnTo>
                    <a:pt x="2718452" y="66966"/>
                  </a:lnTo>
                  <a:lnTo>
                    <a:pt x="2714325" y="81330"/>
                  </a:lnTo>
                  <a:lnTo>
                    <a:pt x="1145798" y="81330"/>
                  </a:lnTo>
                  <a:lnTo>
                    <a:pt x="956866" y="271132"/>
                  </a:lnTo>
                  <a:lnTo>
                    <a:pt x="1011624" y="271132"/>
                  </a:lnTo>
                  <a:lnTo>
                    <a:pt x="1162864" y="120497"/>
                  </a:lnTo>
                  <a:lnTo>
                    <a:pt x="2752517" y="120497"/>
                  </a:lnTo>
                  <a:lnTo>
                    <a:pt x="2750763" y="114650"/>
                  </a:lnTo>
                  <a:lnTo>
                    <a:pt x="2749562" y="102171"/>
                  </a:lnTo>
                  <a:lnTo>
                    <a:pt x="2750763" y="89684"/>
                  </a:lnTo>
                  <a:lnTo>
                    <a:pt x="2777306" y="49795"/>
                  </a:lnTo>
                  <a:lnTo>
                    <a:pt x="2812148" y="39293"/>
                  </a:lnTo>
                  <a:lnTo>
                    <a:pt x="2892753" y="39293"/>
                  </a:lnTo>
                  <a:lnTo>
                    <a:pt x="2885147" y="30124"/>
                  </a:lnTo>
                  <a:lnTo>
                    <a:pt x="2870095" y="17680"/>
                  </a:lnTo>
                  <a:lnTo>
                    <a:pt x="2852719" y="8185"/>
                  </a:lnTo>
                  <a:lnTo>
                    <a:pt x="2833632" y="2128"/>
                  </a:lnTo>
                  <a:lnTo>
                    <a:pt x="2813443" y="0"/>
                  </a:lnTo>
                  <a:close/>
                </a:path>
                <a:path w="2914650" h="385444">
                  <a:moveTo>
                    <a:pt x="2752517" y="120497"/>
                  </a:moveTo>
                  <a:lnTo>
                    <a:pt x="2714358" y="120497"/>
                  </a:lnTo>
                  <a:lnTo>
                    <a:pt x="2717718" y="135708"/>
                  </a:lnTo>
                  <a:lnTo>
                    <a:pt x="2741739" y="174205"/>
                  </a:lnTo>
                  <a:lnTo>
                    <a:pt x="2774167" y="196145"/>
                  </a:lnTo>
                  <a:lnTo>
                    <a:pt x="2813443" y="204330"/>
                  </a:lnTo>
                  <a:lnTo>
                    <a:pt x="2834184" y="202202"/>
                  </a:lnTo>
                  <a:lnTo>
                    <a:pt x="2853210" y="196145"/>
                  </a:lnTo>
                  <a:lnTo>
                    <a:pt x="2870279" y="186649"/>
                  </a:lnTo>
                  <a:lnTo>
                    <a:pt x="2885147" y="174205"/>
                  </a:lnTo>
                  <a:lnTo>
                    <a:pt x="2892660" y="165036"/>
                  </a:lnTo>
                  <a:lnTo>
                    <a:pt x="2812148" y="165036"/>
                  </a:lnTo>
                  <a:lnTo>
                    <a:pt x="2799718" y="163828"/>
                  </a:lnTo>
                  <a:lnTo>
                    <a:pt x="2760010" y="137161"/>
                  </a:lnTo>
                  <a:lnTo>
                    <a:pt x="2754286" y="126396"/>
                  </a:lnTo>
                  <a:lnTo>
                    <a:pt x="2752517" y="120497"/>
                  </a:lnTo>
                  <a:close/>
                </a:path>
                <a:path w="2914650" h="385444">
                  <a:moveTo>
                    <a:pt x="2892753" y="39293"/>
                  </a:moveTo>
                  <a:lnTo>
                    <a:pt x="2812148" y="39293"/>
                  </a:lnTo>
                  <a:lnTo>
                    <a:pt x="2824570" y="40501"/>
                  </a:lnTo>
                  <a:lnTo>
                    <a:pt x="2836262" y="44043"/>
                  </a:lnTo>
                  <a:lnTo>
                    <a:pt x="2869996" y="77935"/>
                  </a:lnTo>
                  <a:lnTo>
                    <a:pt x="2874721" y="102171"/>
                  </a:lnTo>
                  <a:lnTo>
                    <a:pt x="2873519" y="114650"/>
                  </a:lnTo>
                  <a:lnTo>
                    <a:pt x="2846977" y="154535"/>
                  </a:lnTo>
                  <a:lnTo>
                    <a:pt x="2812148" y="165036"/>
                  </a:lnTo>
                  <a:lnTo>
                    <a:pt x="2892660" y="165036"/>
                  </a:lnTo>
                  <a:lnTo>
                    <a:pt x="2897539" y="159082"/>
                  </a:lnTo>
                  <a:lnTo>
                    <a:pt x="2906994" y="141627"/>
                  </a:lnTo>
                  <a:lnTo>
                    <a:pt x="2913026" y="122452"/>
                  </a:lnTo>
                  <a:lnTo>
                    <a:pt x="2914649" y="106912"/>
                  </a:lnTo>
                  <a:lnTo>
                    <a:pt x="2914649" y="97299"/>
                  </a:lnTo>
                  <a:lnTo>
                    <a:pt x="2913026" y="81330"/>
                  </a:lnTo>
                  <a:lnTo>
                    <a:pt x="2906994" y="62214"/>
                  </a:lnTo>
                  <a:lnTo>
                    <a:pt x="2897539" y="45064"/>
                  </a:lnTo>
                  <a:lnTo>
                    <a:pt x="2892753" y="39293"/>
                  </a:lnTo>
                  <a:close/>
                </a:path>
              </a:pathLst>
            </a:custGeom>
            <a:solidFill>
              <a:srgbClr val="40AAE1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076" y="3602774"/>
              <a:ext cx="142180" cy="1421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076" y="4153725"/>
              <a:ext cx="142180" cy="1421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076" y="5255641"/>
              <a:ext cx="142180" cy="1421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076" y="6357556"/>
              <a:ext cx="142180" cy="1421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076" y="6908507"/>
              <a:ext cx="142180" cy="142189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52145" rIns="0" bIns="0" rtlCol="0" vert="horz">
            <a:spAutoFit/>
          </a:bodyPr>
          <a:lstStyle/>
          <a:p>
            <a:pPr marL="1000760">
              <a:lnSpc>
                <a:spcPct val="100000"/>
              </a:lnSpc>
              <a:spcBef>
                <a:spcPts val="110"/>
              </a:spcBef>
            </a:pPr>
            <a:r>
              <a:rPr dirty="0" sz="6650" spc="-750"/>
              <a:t>P</a:t>
            </a:r>
            <a:r>
              <a:rPr dirty="0" sz="6650" spc="-825"/>
              <a:t>R</a:t>
            </a:r>
            <a:r>
              <a:rPr dirty="0" sz="6650" spc="-969"/>
              <a:t>O</a:t>
            </a:r>
            <a:r>
              <a:rPr dirty="0" sz="6650" spc="-830"/>
              <a:t>JE</a:t>
            </a:r>
            <a:r>
              <a:rPr dirty="0" sz="6650" spc="-965"/>
              <a:t>C</a:t>
            </a:r>
            <a:r>
              <a:rPr dirty="0" sz="6650" spc="-409"/>
              <a:t>T</a:t>
            </a:r>
            <a:r>
              <a:rPr dirty="0" sz="6650" spc="-1550"/>
              <a:t> </a:t>
            </a:r>
            <a:r>
              <a:rPr dirty="0" sz="6650" spc="-670"/>
              <a:t>MODULES</a:t>
            </a:r>
            <a:endParaRPr sz="6650"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46657" rIns="0" bIns="0" rtlCol="0" vert="horz">
            <a:spAutoFit/>
          </a:bodyPr>
          <a:lstStyle/>
          <a:p>
            <a:pPr marL="874394">
              <a:lnSpc>
                <a:spcPct val="100000"/>
              </a:lnSpc>
              <a:spcBef>
                <a:spcPts val="655"/>
              </a:spcBef>
            </a:pPr>
            <a:r>
              <a:rPr dirty="0" spc="100"/>
              <a:t>System</a:t>
            </a:r>
            <a:r>
              <a:rPr dirty="0" spc="-470"/>
              <a:t> </a:t>
            </a:r>
            <a:r>
              <a:rPr dirty="0" spc="60"/>
              <a:t>Resource</a:t>
            </a:r>
            <a:r>
              <a:rPr dirty="0" spc="-465"/>
              <a:t> </a:t>
            </a:r>
            <a:r>
              <a:rPr dirty="0" spc="-20"/>
              <a:t>Monitor</a:t>
            </a:r>
            <a:r>
              <a:rPr dirty="0" spc="-465"/>
              <a:t> </a:t>
            </a:r>
            <a:r>
              <a:rPr dirty="0" spc="-944"/>
              <a:t>—</a:t>
            </a:r>
            <a:r>
              <a:rPr dirty="0" spc="-465"/>
              <a:t> </a:t>
            </a:r>
            <a:r>
              <a:rPr dirty="0" spc="-20"/>
              <a:t>Monitors</a:t>
            </a:r>
            <a:r>
              <a:rPr dirty="0" spc="-470"/>
              <a:t> </a:t>
            </a:r>
            <a:r>
              <a:rPr dirty="0" spc="50"/>
              <a:t>CPU,</a:t>
            </a:r>
            <a:r>
              <a:rPr dirty="0" spc="-465"/>
              <a:t> </a:t>
            </a:r>
            <a:r>
              <a:rPr dirty="0"/>
              <a:t>memory,</a:t>
            </a:r>
            <a:r>
              <a:rPr dirty="0" spc="-465"/>
              <a:t> </a:t>
            </a:r>
            <a:r>
              <a:rPr dirty="0" spc="80"/>
              <a:t>and</a:t>
            </a:r>
            <a:r>
              <a:rPr dirty="0" spc="-465"/>
              <a:t> </a:t>
            </a:r>
            <a:r>
              <a:rPr dirty="0" spc="-55"/>
              <a:t>disk</a:t>
            </a:r>
            <a:r>
              <a:rPr dirty="0" spc="-465"/>
              <a:t> </a:t>
            </a:r>
            <a:r>
              <a:rPr dirty="0" spc="-10"/>
              <a:t>utilization.</a:t>
            </a:r>
          </a:p>
          <a:p>
            <a:pPr marL="874394" marR="5080">
              <a:lnSpc>
                <a:spcPts val="4340"/>
              </a:lnSpc>
              <a:spcBef>
                <a:spcPts val="235"/>
              </a:spcBef>
            </a:pPr>
            <a:r>
              <a:rPr dirty="0" spc="70"/>
              <a:t>Process</a:t>
            </a:r>
            <a:r>
              <a:rPr dirty="0" spc="80"/>
              <a:t>  </a:t>
            </a:r>
            <a:r>
              <a:rPr dirty="0"/>
              <a:t>Monitor</a:t>
            </a:r>
            <a:r>
              <a:rPr dirty="0" spc="85"/>
              <a:t>  </a:t>
            </a:r>
            <a:r>
              <a:rPr dirty="0" spc="-944"/>
              <a:t>—</a:t>
            </a:r>
            <a:r>
              <a:rPr dirty="0" spc="90"/>
              <a:t>  </a:t>
            </a:r>
            <a:r>
              <a:rPr dirty="0"/>
              <a:t>Displays</a:t>
            </a:r>
            <a:r>
              <a:rPr dirty="0" spc="90"/>
              <a:t>  </a:t>
            </a:r>
            <a:r>
              <a:rPr dirty="0"/>
              <a:t>running</a:t>
            </a:r>
            <a:r>
              <a:rPr dirty="0" spc="90"/>
              <a:t>  </a:t>
            </a:r>
            <a:r>
              <a:rPr dirty="0"/>
              <a:t>processes,</a:t>
            </a:r>
            <a:r>
              <a:rPr dirty="0" spc="90"/>
              <a:t>  </a:t>
            </a:r>
            <a:r>
              <a:rPr dirty="0"/>
              <a:t>PIDs,</a:t>
            </a:r>
            <a:r>
              <a:rPr dirty="0" spc="90"/>
              <a:t>  </a:t>
            </a:r>
            <a:r>
              <a:rPr dirty="0" spc="80"/>
              <a:t>and</a:t>
            </a:r>
            <a:r>
              <a:rPr dirty="0" spc="90"/>
              <a:t>  </a:t>
            </a:r>
            <a:r>
              <a:rPr dirty="0" spc="-40"/>
              <a:t>process-</a:t>
            </a:r>
            <a:r>
              <a:rPr dirty="0" spc="-10"/>
              <a:t>related information.</a:t>
            </a:r>
          </a:p>
          <a:p>
            <a:pPr marL="874394">
              <a:lnSpc>
                <a:spcPct val="100000"/>
              </a:lnSpc>
              <a:spcBef>
                <a:spcPts val="315"/>
              </a:spcBef>
            </a:pPr>
            <a:r>
              <a:rPr dirty="0" spc="70"/>
              <a:t>Process</a:t>
            </a:r>
            <a:r>
              <a:rPr dirty="0" spc="100"/>
              <a:t> </a:t>
            </a:r>
            <a:r>
              <a:rPr dirty="0" spc="135"/>
              <a:t>Watchdog</a:t>
            </a:r>
            <a:r>
              <a:rPr dirty="0" spc="110"/>
              <a:t> </a:t>
            </a:r>
            <a:r>
              <a:rPr dirty="0" spc="-944"/>
              <a:t>—</a:t>
            </a:r>
            <a:r>
              <a:rPr dirty="0" spc="110"/>
              <a:t> </a:t>
            </a:r>
            <a:r>
              <a:rPr dirty="0"/>
              <a:t>Monitors</a:t>
            </a:r>
            <a:r>
              <a:rPr dirty="0" spc="110"/>
              <a:t> </a:t>
            </a:r>
            <a:r>
              <a:rPr dirty="0" spc="75"/>
              <a:t>selected</a:t>
            </a:r>
            <a:r>
              <a:rPr dirty="0" spc="110"/>
              <a:t> </a:t>
            </a:r>
            <a:r>
              <a:rPr dirty="0" spc="55"/>
              <a:t>processes</a:t>
            </a:r>
            <a:r>
              <a:rPr dirty="0" spc="114"/>
              <a:t> </a:t>
            </a:r>
            <a:r>
              <a:rPr dirty="0" spc="80"/>
              <a:t>and</a:t>
            </a:r>
            <a:r>
              <a:rPr dirty="0" spc="105"/>
              <a:t> </a:t>
            </a:r>
            <a:r>
              <a:rPr dirty="0" spc="110"/>
              <a:t>detects</a:t>
            </a:r>
            <a:r>
              <a:rPr dirty="0" spc="114"/>
              <a:t> </a:t>
            </a:r>
            <a:r>
              <a:rPr dirty="0" spc="60"/>
              <a:t>process</a:t>
            </a:r>
            <a:r>
              <a:rPr dirty="0" spc="110"/>
              <a:t> </a:t>
            </a:r>
            <a:r>
              <a:rPr dirty="0" spc="-10"/>
              <a:t>status</a:t>
            </a:r>
          </a:p>
          <a:p>
            <a:pPr marL="874394">
              <a:lnSpc>
                <a:spcPct val="100000"/>
              </a:lnSpc>
              <a:spcBef>
                <a:spcPts val="560"/>
              </a:spcBef>
            </a:pPr>
            <a:r>
              <a:rPr dirty="0" spc="-10"/>
              <a:t>changes.</a:t>
            </a:r>
          </a:p>
          <a:p>
            <a:pPr marL="874394">
              <a:lnSpc>
                <a:spcPct val="100000"/>
              </a:lnSpc>
              <a:spcBef>
                <a:spcPts val="560"/>
              </a:spcBef>
            </a:pPr>
            <a:r>
              <a:rPr dirty="0" spc="70"/>
              <a:t>Event</a:t>
            </a:r>
            <a:r>
              <a:rPr dirty="0" spc="-455"/>
              <a:t> </a:t>
            </a:r>
            <a:r>
              <a:rPr dirty="0" spc="-20"/>
              <a:t>Monitor</a:t>
            </a:r>
            <a:r>
              <a:rPr dirty="0" spc="-455"/>
              <a:t> </a:t>
            </a:r>
            <a:r>
              <a:rPr dirty="0" spc="-944"/>
              <a:t>—</a:t>
            </a:r>
            <a:r>
              <a:rPr dirty="0" spc="-455"/>
              <a:t> </a:t>
            </a:r>
            <a:r>
              <a:rPr dirty="0"/>
              <a:t>Tracks</a:t>
            </a:r>
            <a:r>
              <a:rPr dirty="0" spc="-455"/>
              <a:t> </a:t>
            </a:r>
            <a:r>
              <a:rPr dirty="0"/>
              <a:t>relevant</a:t>
            </a:r>
            <a:r>
              <a:rPr dirty="0" spc="-455"/>
              <a:t> </a:t>
            </a:r>
            <a:r>
              <a:rPr dirty="0" spc="65"/>
              <a:t>system</a:t>
            </a:r>
            <a:r>
              <a:rPr dirty="0" spc="-450"/>
              <a:t> </a:t>
            </a:r>
            <a:r>
              <a:rPr dirty="0" spc="80"/>
              <a:t>and</a:t>
            </a:r>
            <a:r>
              <a:rPr dirty="0" spc="-455"/>
              <a:t> </a:t>
            </a:r>
            <a:r>
              <a:rPr dirty="0" spc="75"/>
              <a:t>device</a:t>
            </a:r>
            <a:r>
              <a:rPr dirty="0" spc="-455"/>
              <a:t> </a:t>
            </a:r>
            <a:r>
              <a:rPr dirty="0" spc="-10"/>
              <a:t>events.</a:t>
            </a:r>
          </a:p>
          <a:p>
            <a:pPr marL="874394">
              <a:lnSpc>
                <a:spcPct val="100000"/>
              </a:lnSpc>
              <a:spcBef>
                <a:spcPts val="555"/>
              </a:spcBef>
            </a:pPr>
            <a:r>
              <a:rPr dirty="0" spc="-20"/>
              <a:t>Logging</a:t>
            </a:r>
            <a:r>
              <a:rPr dirty="0" spc="-430"/>
              <a:t> </a:t>
            </a:r>
            <a:r>
              <a:rPr dirty="0"/>
              <a:t>Module</a:t>
            </a:r>
            <a:r>
              <a:rPr dirty="0" spc="-430"/>
              <a:t> </a:t>
            </a:r>
            <a:r>
              <a:rPr dirty="0" spc="-944"/>
              <a:t>—</a:t>
            </a:r>
            <a:r>
              <a:rPr dirty="0" spc="-430"/>
              <a:t> </a:t>
            </a:r>
            <a:r>
              <a:rPr dirty="0" spc="65"/>
              <a:t>Records</a:t>
            </a:r>
            <a:r>
              <a:rPr dirty="0" spc="-425"/>
              <a:t> </a:t>
            </a:r>
            <a:r>
              <a:rPr dirty="0"/>
              <a:t>important</a:t>
            </a:r>
            <a:r>
              <a:rPr dirty="0" spc="-430"/>
              <a:t> </a:t>
            </a:r>
            <a:r>
              <a:rPr dirty="0" spc="-30"/>
              <a:t>monitoring</a:t>
            </a:r>
            <a:r>
              <a:rPr dirty="0" spc="-430"/>
              <a:t> </a:t>
            </a:r>
            <a:r>
              <a:rPr dirty="0" spc="-20"/>
              <a:t>information</a:t>
            </a:r>
            <a:r>
              <a:rPr dirty="0" spc="-430"/>
              <a:t> </a:t>
            </a:r>
            <a:r>
              <a:rPr dirty="0"/>
              <a:t>for</a:t>
            </a:r>
            <a:r>
              <a:rPr dirty="0" spc="-425"/>
              <a:t> </a:t>
            </a:r>
            <a:r>
              <a:rPr dirty="0"/>
              <a:t>later</a:t>
            </a:r>
            <a:r>
              <a:rPr dirty="0" spc="-430"/>
              <a:t> </a:t>
            </a:r>
            <a:r>
              <a:rPr dirty="0" spc="-10"/>
              <a:t>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525" y="828673"/>
            <a:ext cx="18278475" cy="752475"/>
            <a:chOff x="9525" y="828673"/>
            <a:chExt cx="18278475" cy="7524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" y="828673"/>
              <a:ext cx="18278475" cy="7524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71850" y="838198"/>
              <a:ext cx="7639050" cy="695325"/>
            </a:xfrm>
            <a:custGeom>
              <a:avLst/>
              <a:gdLst/>
              <a:ahLst/>
              <a:cxnLst/>
              <a:rect l="l" t="t" r="r" b="b"/>
              <a:pathLst>
                <a:path w="7639050" h="695325">
                  <a:moveTo>
                    <a:pt x="7639050" y="695325"/>
                  </a:moveTo>
                  <a:lnTo>
                    <a:pt x="0" y="695325"/>
                  </a:lnTo>
                  <a:lnTo>
                    <a:pt x="0" y="0"/>
                  </a:lnTo>
                  <a:lnTo>
                    <a:pt x="7639050" y="0"/>
                  </a:lnTo>
                  <a:lnTo>
                    <a:pt x="7639050" y="695325"/>
                  </a:lnTo>
                  <a:close/>
                </a:path>
              </a:pathLst>
            </a:custGeom>
            <a:solidFill>
              <a:srgbClr val="1C388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1781173"/>
            <a:ext cx="18278475" cy="804862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586" rIns="0" bIns="0" rtlCol="0" vert="horz">
            <a:spAutoFit/>
          </a:bodyPr>
          <a:lstStyle/>
          <a:p>
            <a:pPr marL="2574290">
              <a:lnSpc>
                <a:spcPct val="100000"/>
              </a:lnSpc>
              <a:spcBef>
                <a:spcPts val="100"/>
              </a:spcBef>
            </a:pPr>
            <a:r>
              <a:rPr dirty="0" sz="7050" spc="204">
                <a:solidFill>
                  <a:srgbClr val="FFFFFF"/>
                </a:solidFill>
                <a:latin typeface="Arial MT"/>
                <a:cs typeface="Arial MT"/>
              </a:rPr>
              <a:t>EM</a:t>
            </a:r>
            <a:r>
              <a:rPr dirty="0" sz="70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-3152" sz="10575" spc="-63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baseline="-1970" sz="10575" spc="-630">
                <a:solidFill>
                  <a:srgbClr val="FFFFFF"/>
                </a:solidFill>
                <a:latin typeface="Arial MT"/>
                <a:cs typeface="Arial MT"/>
              </a:rPr>
              <a:t>RC</a:t>
            </a:r>
            <a:r>
              <a:rPr dirty="0" sz="7050" spc="-420">
                <a:solidFill>
                  <a:srgbClr val="FFFFFF"/>
                </a:solidFill>
                <a:latin typeface="Arial MT"/>
                <a:cs typeface="Arial MT"/>
              </a:rPr>
              <a:t>HITEC</a:t>
            </a:r>
            <a:r>
              <a:rPr dirty="0" baseline="1576" sz="10575" spc="-63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7050" spc="-42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baseline="2364" sz="10575" spc="-630">
                <a:solidFill>
                  <a:srgbClr val="FFFFFF"/>
                </a:solidFill>
                <a:latin typeface="Arial MT"/>
                <a:cs typeface="Arial MT"/>
              </a:rPr>
              <a:t>RE</a:t>
            </a:r>
            <a:endParaRPr baseline="2364" sz="1057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090013"/>
            <a:ext cx="18277205" cy="806450"/>
          </a:xfrm>
          <a:custGeom>
            <a:avLst/>
            <a:gdLst/>
            <a:ahLst/>
            <a:cxnLst/>
            <a:rect l="l" t="t" r="r" b="b"/>
            <a:pathLst>
              <a:path w="18277205" h="806450">
                <a:moveTo>
                  <a:pt x="18276648" y="806155"/>
                </a:moveTo>
                <a:lnTo>
                  <a:pt x="0" y="806155"/>
                </a:lnTo>
                <a:lnTo>
                  <a:pt x="0" y="0"/>
                </a:lnTo>
                <a:lnTo>
                  <a:pt x="18276648" y="0"/>
                </a:lnTo>
                <a:lnTo>
                  <a:pt x="18276648" y="806155"/>
                </a:lnTo>
                <a:close/>
              </a:path>
            </a:pathLst>
          </a:custGeom>
          <a:solidFill>
            <a:srgbClr val="0F60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923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50" spc="-105">
                <a:solidFill>
                  <a:srgbClr val="FFFFFF"/>
                </a:solidFill>
                <a:latin typeface="Arial MT"/>
                <a:cs typeface="Arial MT"/>
              </a:rPr>
              <a:t>WORKING</a:t>
            </a:r>
            <a:r>
              <a:rPr dirty="0" sz="7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7550" spc="6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50" spc="-530">
                <a:solidFill>
                  <a:srgbClr val="FFFFFF"/>
                </a:solidFill>
                <a:latin typeface="Arial MT"/>
                <a:cs typeface="Arial MT"/>
              </a:rPr>
              <a:t>WORKFLOW</a:t>
            </a:r>
            <a:endParaRPr sz="755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30346" y="2713678"/>
            <a:ext cx="756920" cy="0"/>
          </a:xfrm>
          <a:custGeom>
            <a:avLst/>
            <a:gdLst/>
            <a:ahLst/>
            <a:cxnLst/>
            <a:rect l="l" t="t" r="r" b="b"/>
            <a:pathLst>
              <a:path w="756919" h="0">
                <a:moveTo>
                  <a:pt x="0" y="0"/>
                </a:moveTo>
                <a:lnTo>
                  <a:pt x="756797" y="0"/>
                </a:lnTo>
              </a:path>
            </a:pathLst>
          </a:custGeom>
          <a:ln w="52986">
            <a:solidFill>
              <a:srgbClr val="001C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1725497" y="8421109"/>
            <a:ext cx="14977110" cy="0"/>
          </a:xfrm>
          <a:custGeom>
            <a:avLst/>
            <a:gdLst/>
            <a:ahLst/>
            <a:cxnLst/>
            <a:rect l="l" t="t" r="r" b="b"/>
            <a:pathLst>
              <a:path w="14977110" h="0">
                <a:moveTo>
                  <a:pt x="0" y="0"/>
                </a:moveTo>
                <a:lnTo>
                  <a:pt x="14977013" y="0"/>
                </a:lnTo>
              </a:path>
            </a:pathLst>
          </a:custGeom>
          <a:ln w="52986">
            <a:solidFill>
              <a:srgbClr val="001C5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2702324"/>
            <a:ext cx="18277205" cy="5824855"/>
            <a:chOff x="0" y="2702324"/>
            <a:chExt cx="18277205" cy="58248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9708" y="3167851"/>
              <a:ext cx="238391" cy="6471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4536" y="5472775"/>
              <a:ext cx="2531485" cy="57906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26569" y="6971543"/>
              <a:ext cx="2190927" cy="57906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2702324"/>
              <a:ext cx="18277205" cy="5824855"/>
            </a:xfrm>
            <a:custGeom>
              <a:avLst/>
              <a:gdLst/>
              <a:ahLst/>
              <a:cxnLst/>
              <a:rect l="l" t="t" r="r" b="b"/>
              <a:pathLst>
                <a:path w="18277205" h="5824855">
                  <a:moveTo>
                    <a:pt x="18276648" y="5824756"/>
                  </a:moveTo>
                  <a:lnTo>
                    <a:pt x="0" y="5824756"/>
                  </a:lnTo>
                  <a:lnTo>
                    <a:pt x="0" y="0"/>
                  </a:lnTo>
                  <a:lnTo>
                    <a:pt x="18276648" y="0"/>
                  </a:lnTo>
                  <a:lnTo>
                    <a:pt x="18276648" y="5824756"/>
                  </a:lnTo>
                  <a:close/>
                </a:path>
              </a:pathLst>
            </a:custGeom>
            <a:solidFill>
              <a:srgbClr val="003A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250494" y="3686911"/>
            <a:ext cx="2243455" cy="1422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0690">
              <a:lnSpc>
                <a:spcPct val="100000"/>
              </a:lnSpc>
              <a:spcBef>
                <a:spcPts val="105"/>
              </a:spcBef>
              <a:tabLst>
                <a:tab pos="1027430" algn="l"/>
              </a:tabLst>
            </a:pPr>
            <a:r>
              <a:rPr dirty="0" sz="2600" spc="-50">
                <a:solidFill>
                  <a:srgbClr val="7EC6F9"/>
                </a:solidFill>
                <a:latin typeface="Arial MT"/>
                <a:cs typeface="Arial MT"/>
              </a:rPr>
              <a:t>I</a:t>
            </a:r>
            <a:r>
              <a:rPr dirty="0" sz="2600">
                <a:solidFill>
                  <a:srgbClr val="7EC6F9"/>
                </a:solidFill>
                <a:latin typeface="Arial MT"/>
                <a:cs typeface="Arial MT"/>
              </a:rPr>
              <a:t>	</a:t>
            </a:r>
            <a:r>
              <a:rPr dirty="0" sz="2600" spc="10">
                <a:solidFill>
                  <a:srgbClr val="8EC6F4"/>
                </a:solidFill>
                <a:latin typeface="Arial MT"/>
                <a:cs typeface="Arial MT"/>
              </a:rPr>
              <a:t>”</a:t>
            </a:r>
            <a:endParaRPr sz="2600">
              <a:latin typeface="Arial MT"/>
              <a:cs typeface="Arial MT"/>
            </a:endParaRPr>
          </a:p>
          <a:p>
            <a:pPr marL="66040" marR="5080" indent="-53975">
              <a:lnSpc>
                <a:spcPts val="2770"/>
              </a:lnSpc>
              <a:spcBef>
                <a:spcPts val="2360"/>
              </a:spcBef>
            </a:pPr>
            <a:r>
              <a:rPr dirty="0" sz="2600" spc="-45">
                <a:solidFill>
                  <a:srgbClr val="FFFFFF"/>
                </a:solidFill>
                <a:latin typeface="Arial MT"/>
                <a:cs typeface="Arial MT"/>
              </a:rPr>
              <a:t>Command-</a:t>
            </a:r>
            <a:r>
              <a:rPr dirty="0" sz="2600" spc="-25">
                <a:solidFill>
                  <a:srgbClr val="FFFFFF"/>
                </a:solidFill>
                <a:latin typeface="Arial MT"/>
                <a:cs typeface="Arial MT"/>
              </a:rPr>
              <a:t>Line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r>
              <a:rPr dirty="0" sz="2600" spc="2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rial MT"/>
                <a:cs typeface="Arial MT"/>
              </a:rPr>
              <a:t>(CLI)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866" y="4416109"/>
            <a:ext cx="2480310" cy="2420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9905">
              <a:lnSpc>
                <a:spcPct val="100000"/>
              </a:lnSpc>
              <a:spcBef>
                <a:spcPts val="105"/>
              </a:spcBef>
            </a:pPr>
            <a:r>
              <a:rPr dirty="0" sz="2850" spc="-175">
                <a:solidFill>
                  <a:srgbClr val="ACC8FF"/>
                </a:solidFill>
                <a:latin typeface="Arial MT"/>
                <a:cs typeface="Arial MT"/>
              </a:rPr>
              <a:t>User</a:t>
            </a:r>
            <a:r>
              <a:rPr dirty="0" sz="2850">
                <a:solidFill>
                  <a:srgbClr val="ACC8FF"/>
                </a:solidFill>
                <a:latin typeface="Arial MT"/>
                <a:cs typeface="Arial MT"/>
              </a:rPr>
              <a:t> </a:t>
            </a:r>
            <a:r>
              <a:rPr dirty="0" sz="2850" spc="-1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endParaRPr sz="2850">
              <a:latin typeface="Arial MT"/>
              <a:cs typeface="Arial MT"/>
            </a:endParaRPr>
          </a:p>
          <a:p>
            <a:pPr marL="332740" marR="5080" indent="-320675">
              <a:lnSpc>
                <a:spcPts val="2590"/>
              </a:lnSpc>
              <a:spcBef>
                <a:spcPts val="2275"/>
              </a:spcBef>
              <a:buClr>
                <a:srgbClr val="FFFFFF"/>
              </a:buClr>
              <a:buChar char="•"/>
              <a:tabLst>
                <a:tab pos="335915" algn="l"/>
              </a:tabLst>
            </a:pPr>
            <a:r>
              <a:rPr dirty="0" sz="2200" spc="-40">
                <a:solidFill>
                  <a:srgbClr val="001F67"/>
                </a:solidFill>
                <a:latin typeface="Arial MT"/>
                <a:cs typeface="Arial MT"/>
              </a:rPr>
              <a:t>Select</a:t>
            </a:r>
            <a:r>
              <a:rPr dirty="0" sz="2200" spc="-55">
                <a:solidFill>
                  <a:srgbClr val="001F67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7134B"/>
                </a:solidFill>
                <a:latin typeface="Arial MT"/>
                <a:cs typeface="Arial MT"/>
              </a:rPr>
              <a:t>monitoring </a:t>
            </a:r>
            <a:r>
              <a:rPr dirty="0" sz="2200" spc="-10">
                <a:solidFill>
                  <a:srgbClr val="07134B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0F2A9A"/>
                </a:solidFill>
                <a:latin typeface="Arial MT"/>
                <a:cs typeface="Arial MT"/>
              </a:rPr>
              <a:t>optio</a:t>
            </a:r>
            <a:r>
              <a:rPr dirty="0" sz="2200" spc="-155">
                <a:solidFill>
                  <a:srgbClr val="0F2A9A"/>
                </a:solidFill>
                <a:latin typeface="Arial MT"/>
                <a:cs typeface="Arial MT"/>
              </a:rPr>
              <a:t> </a:t>
            </a:r>
            <a:r>
              <a:rPr dirty="0" sz="2200" spc="-560">
                <a:solidFill>
                  <a:srgbClr val="0F2A9A"/>
                </a:solidFill>
                <a:latin typeface="Arial MT"/>
                <a:cs typeface="Arial MT"/>
              </a:rPr>
              <a:t>s</a:t>
            </a:r>
            <a:endParaRPr sz="2200">
              <a:latin typeface="Arial MT"/>
              <a:cs typeface="Arial MT"/>
            </a:endParaRPr>
          </a:p>
          <a:p>
            <a:pPr marL="323215" marR="189865" indent="-311150">
              <a:lnSpc>
                <a:spcPts val="2590"/>
              </a:lnSpc>
              <a:spcBef>
                <a:spcPts val="275"/>
              </a:spcBef>
              <a:buClr>
                <a:srgbClr val="FFFFFF"/>
              </a:buClr>
              <a:buChar char="•"/>
              <a:tabLst>
                <a:tab pos="326390" algn="l"/>
              </a:tabLst>
            </a:pPr>
            <a:r>
              <a:rPr dirty="0" sz="2200" spc="-114">
                <a:solidFill>
                  <a:srgbClr val="01134D"/>
                </a:solidFill>
                <a:latin typeface="Arial MT"/>
                <a:cs typeface="Arial MT"/>
              </a:rPr>
              <a:t>Provic!e</a:t>
            </a:r>
            <a:r>
              <a:rPr dirty="0" sz="2200" spc="10">
                <a:solidFill>
                  <a:srgbClr val="01134D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001131"/>
                </a:solidFill>
                <a:latin typeface="Arial MT"/>
                <a:cs typeface="Arial MT"/>
              </a:rPr>
              <a:t>reouired </a:t>
            </a:r>
            <a:r>
              <a:rPr dirty="0" sz="2200" spc="-50">
                <a:solidFill>
                  <a:srgbClr val="001131"/>
                </a:solidFill>
                <a:latin typeface="Arial MT"/>
                <a:cs typeface="Arial MT"/>
              </a:rPr>
              <a:t>	</a:t>
            </a:r>
            <a:r>
              <a:rPr dirty="0" sz="2200" spc="-10">
                <a:solidFill>
                  <a:srgbClr val="182A5D"/>
                </a:solidFill>
                <a:latin typeface="Arial MT"/>
                <a:cs typeface="Arial MT"/>
              </a:rPr>
              <a:t>parameters</a:t>
            </a:r>
            <a:endParaRPr sz="2200">
              <a:latin typeface="Arial MT"/>
              <a:cs typeface="Arial MT"/>
            </a:endParaRPr>
          </a:p>
          <a:p>
            <a:pPr marL="328295">
              <a:lnSpc>
                <a:spcPts val="2515"/>
              </a:lnSpc>
            </a:pPr>
            <a:r>
              <a:rPr dirty="0" sz="2200">
                <a:solidFill>
                  <a:srgbClr val="3149A3"/>
                </a:solidFill>
                <a:latin typeface="Arial MT"/>
                <a:cs typeface="Arial MT"/>
              </a:rPr>
              <a:t>(if </a:t>
            </a:r>
            <a:r>
              <a:rPr dirty="0" sz="2200" spc="-20">
                <a:solidFill>
                  <a:srgbClr val="CFEBFF"/>
                </a:solidFill>
                <a:latin typeface="Arial MT"/>
                <a:cs typeface="Arial MT"/>
              </a:rPr>
              <a:t>any)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51189" y="6084561"/>
            <a:ext cx="2871470" cy="69532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11150" marR="5080" indent="-299085">
              <a:lnSpc>
                <a:spcPts val="2590"/>
              </a:lnSpc>
              <a:spcBef>
                <a:spcPts val="260"/>
              </a:spcBef>
              <a:buClr>
                <a:srgbClr val="E6FDFF"/>
              </a:buClr>
              <a:buChar char="•"/>
              <a:tabLst>
                <a:tab pos="316865" algn="l"/>
              </a:tabLst>
            </a:pPr>
            <a:r>
              <a:rPr dirty="0" sz="2200" spc="-155">
                <a:solidFill>
                  <a:srgbClr val="6E91D4"/>
                </a:solidFill>
                <a:latin typeface="Cambria"/>
                <a:cs typeface="Cambria"/>
              </a:rPr>
              <a:t>I</a:t>
            </a:r>
            <a:r>
              <a:rPr dirty="0" sz="2200" spc="-155">
                <a:solidFill>
                  <a:srgbClr val="213D69"/>
                </a:solidFill>
                <a:latin typeface="Cambria"/>
                <a:cs typeface="Cambria"/>
              </a:rPr>
              <a:t>dendrites</a:t>
            </a:r>
            <a:r>
              <a:rPr dirty="0" sz="2200" spc="175">
                <a:solidFill>
                  <a:srgbClr val="213D69"/>
                </a:solidFill>
                <a:latin typeface="Cambria"/>
                <a:cs typeface="Cambria"/>
              </a:rPr>
              <a:t> </a:t>
            </a:r>
            <a:r>
              <a:rPr dirty="0" sz="2200">
                <a:solidFill>
                  <a:srgbClr val="132459"/>
                </a:solidFill>
                <a:latin typeface="Cambria"/>
                <a:cs typeface="Cambria"/>
              </a:rPr>
              <a:t>the</a:t>
            </a:r>
            <a:r>
              <a:rPr dirty="0" sz="2200" spc="125">
                <a:solidFill>
                  <a:srgbClr val="132459"/>
                </a:solidFill>
                <a:latin typeface="Cambria"/>
                <a:cs typeface="Cambria"/>
              </a:rPr>
              <a:t> </a:t>
            </a:r>
            <a:r>
              <a:rPr dirty="0" sz="2200" spc="-130">
                <a:solidFill>
                  <a:srgbClr val="213670"/>
                </a:solidFill>
                <a:latin typeface="Cambria"/>
                <a:cs typeface="Cambria"/>
              </a:rPr>
              <a:t>requi</a:t>
            </a:r>
            <a:r>
              <a:rPr dirty="0" sz="2200" spc="-170">
                <a:solidFill>
                  <a:srgbClr val="213670"/>
                </a:solidFill>
                <a:latin typeface="Cambria"/>
                <a:cs typeface="Cambria"/>
              </a:rPr>
              <a:t> </a:t>
            </a:r>
            <a:r>
              <a:rPr dirty="0" sz="2200" spc="-140">
                <a:solidFill>
                  <a:srgbClr val="001542"/>
                </a:solidFill>
                <a:latin typeface="Cambria"/>
                <a:cs typeface="Cambria"/>
              </a:rPr>
              <a:t>red </a:t>
            </a:r>
            <a:r>
              <a:rPr dirty="0" sz="2200" spc="-140">
                <a:solidFill>
                  <a:srgbClr val="001542"/>
                </a:solidFill>
                <a:latin typeface="Cambria"/>
                <a:cs typeface="Cambria"/>
              </a:rPr>
              <a:t>	</a:t>
            </a:r>
            <a:r>
              <a:rPr dirty="0" sz="2200" spc="-125">
                <a:solidFill>
                  <a:srgbClr val="112F66"/>
                </a:solidFill>
                <a:latin typeface="Cambria"/>
                <a:cs typeface="Cambria"/>
              </a:rPr>
              <a:t>mod</a:t>
            </a:r>
            <a:r>
              <a:rPr dirty="0" sz="2200" spc="-145">
                <a:solidFill>
                  <a:srgbClr val="112F66"/>
                </a:solidFill>
                <a:latin typeface="Cambria"/>
                <a:cs typeface="Cambria"/>
              </a:rPr>
              <a:t> </a:t>
            </a:r>
            <a:r>
              <a:rPr dirty="0" sz="2200" spc="-25">
                <a:solidFill>
                  <a:srgbClr val="00165D"/>
                </a:solidFill>
                <a:latin typeface="Cambria"/>
                <a:cs typeface="Cambria"/>
              </a:rPr>
              <a:t>u</a:t>
            </a:r>
            <a:r>
              <a:rPr dirty="0" sz="2200" spc="-25">
                <a:solidFill>
                  <a:srgbClr val="00134D"/>
                </a:solidFill>
                <a:latin typeface="Cambria"/>
                <a:cs typeface="Cambria"/>
              </a:rPr>
              <a:t>ie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25581" y="4393401"/>
            <a:ext cx="2733040" cy="3147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3210">
              <a:lnSpc>
                <a:spcPct val="100000"/>
              </a:lnSpc>
              <a:spcBef>
                <a:spcPts val="105"/>
              </a:spcBef>
            </a:pPr>
            <a:r>
              <a:rPr dirty="0" sz="2850" spc="-185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28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50" spc="-30">
                <a:solidFill>
                  <a:srgbClr val="9CB3C3"/>
                </a:solidFill>
                <a:latin typeface="Arial MT"/>
                <a:cs typeface="Arial MT"/>
              </a:rPr>
              <a:t>Collection</a:t>
            </a:r>
            <a:endParaRPr sz="2850">
              <a:latin typeface="Arial MT"/>
              <a:cs typeface="Arial MT"/>
            </a:endParaRPr>
          </a:p>
          <a:p>
            <a:pPr algn="r" marL="299085" marR="451484" indent="-299085">
              <a:lnSpc>
                <a:spcPts val="2615"/>
              </a:lnSpc>
              <a:spcBef>
                <a:spcPts val="1700"/>
              </a:spcBef>
              <a:buClr>
                <a:srgbClr val="FFFFFF"/>
              </a:buClr>
              <a:buChar char="•"/>
              <a:tabLst>
                <a:tab pos="299085" algn="l"/>
              </a:tabLst>
            </a:pPr>
            <a:r>
              <a:rPr dirty="0" sz="2200" spc="-125">
                <a:solidFill>
                  <a:srgbClr val="031836"/>
                </a:solidFill>
                <a:latin typeface="Arial MT"/>
                <a:cs typeface="Arial MT"/>
              </a:rPr>
              <a:t>Reads</a:t>
            </a:r>
            <a:r>
              <a:rPr dirty="0" sz="2200" spc="-30">
                <a:solidFill>
                  <a:srgbClr val="031836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8153F"/>
                </a:solidFill>
                <a:latin typeface="Arial MT"/>
                <a:cs typeface="Arial MT"/>
              </a:rPr>
              <a:t>data</a:t>
            </a:r>
            <a:r>
              <a:rPr dirty="0" sz="2200" spc="5">
                <a:solidFill>
                  <a:srgbClr val="08153F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112859"/>
                </a:solidFill>
                <a:latin typeface="Arial MT"/>
                <a:cs typeface="Arial MT"/>
              </a:rPr>
              <a:t>from</a:t>
            </a:r>
            <a:endParaRPr sz="2200">
              <a:latin typeface="Arial MT"/>
              <a:cs typeface="Arial MT"/>
            </a:endParaRPr>
          </a:p>
          <a:p>
            <a:pPr algn="r" marR="409575">
              <a:lnSpc>
                <a:spcPts val="2615"/>
              </a:lnSpc>
            </a:pPr>
            <a:r>
              <a:rPr dirty="0" sz="2200" spc="105">
                <a:solidFill>
                  <a:srgbClr val="9EB3E4"/>
                </a:solidFill>
                <a:latin typeface="Arial MT"/>
                <a:cs typeface="Arial MT"/>
              </a:rPr>
              <a:t>/proc</a:t>
            </a:r>
            <a:r>
              <a:rPr dirty="0" sz="2200" spc="254">
                <a:solidFill>
                  <a:srgbClr val="9EB3E4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607CA3"/>
                </a:solidFill>
                <a:latin typeface="Arial MT"/>
                <a:cs typeface="Arial MT"/>
              </a:rPr>
              <a:t>file</a:t>
            </a:r>
            <a:r>
              <a:rPr dirty="0" sz="2200" spc="-10">
                <a:solidFill>
                  <a:srgbClr val="42578E"/>
                </a:solidFill>
                <a:latin typeface="Arial MT"/>
                <a:cs typeface="Arial MT"/>
              </a:rPr>
              <a:t>system</a:t>
            </a:r>
            <a:endParaRPr sz="2200">
              <a:latin typeface="Arial MT"/>
              <a:cs typeface="Arial MT"/>
            </a:endParaRPr>
          </a:p>
          <a:p>
            <a:pPr marL="311785" marR="5080" indent="-299720">
              <a:lnSpc>
                <a:spcPct val="101600"/>
              </a:lnSpc>
              <a:spcBef>
                <a:spcPts val="355"/>
              </a:spcBef>
              <a:buClr>
                <a:srgbClr val="FFFFFF"/>
              </a:buClr>
              <a:buChar char="•"/>
              <a:tabLst>
                <a:tab pos="316865" algn="l"/>
              </a:tabLst>
            </a:pPr>
            <a:r>
              <a:rPr dirty="0" sz="2200" spc="-130">
                <a:solidFill>
                  <a:srgbClr val="0F2454"/>
                </a:solidFill>
                <a:latin typeface="Arial MT"/>
                <a:cs typeface="Arial MT"/>
              </a:rPr>
              <a:t>Uses</a:t>
            </a:r>
            <a:r>
              <a:rPr dirty="0" sz="2200" spc="15">
                <a:solidFill>
                  <a:srgbClr val="0F2454"/>
                </a:solidFill>
                <a:latin typeface="Arial MT"/>
                <a:cs typeface="Arial MT"/>
              </a:rPr>
              <a:t> </a:t>
            </a:r>
            <a:r>
              <a:rPr dirty="0" sz="2200" spc="-65">
                <a:solidFill>
                  <a:srgbClr val="00134D"/>
                </a:solidFill>
                <a:latin typeface="Arial MT"/>
                <a:cs typeface="Arial MT"/>
              </a:rPr>
              <a:t>system</a:t>
            </a:r>
            <a:r>
              <a:rPr dirty="0" sz="2200" spc="-85">
                <a:solidFill>
                  <a:srgbClr val="00134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C2154"/>
                </a:solidFill>
                <a:latin typeface="Arial MT"/>
                <a:cs typeface="Arial MT"/>
              </a:rPr>
              <a:t>ut'lit</a:t>
            </a:r>
            <a:r>
              <a:rPr dirty="0" sz="2200" spc="-10">
                <a:solidFill>
                  <a:srgbClr val="182A5D"/>
                </a:solidFill>
                <a:latin typeface="Arial MT"/>
                <a:cs typeface="Arial MT"/>
              </a:rPr>
              <a:t>ies </a:t>
            </a:r>
            <a:r>
              <a:rPr dirty="0" sz="2200" spc="-10">
                <a:solidFill>
                  <a:srgbClr val="182A5D"/>
                </a:solidFill>
                <a:latin typeface="Arial MT"/>
                <a:cs typeface="Arial MT"/>
              </a:rPr>
              <a:t>	</a:t>
            </a:r>
            <a:r>
              <a:rPr dirty="0" sz="2200" spc="-200">
                <a:solidFill>
                  <a:srgbClr val="03215D"/>
                </a:solidFill>
                <a:latin typeface="Arial MT"/>
                <a:cs typeface="Arial MT"/>
              </a:rPr>
              <a:t>(G.p.,</a:t>
            </a:r>
            <a:r>
              <a:rPr dirty="0" sz="2200" spc="45">
                <a:solidFill>
                  <a:srgbClr val="03215D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E6F6FF"/>
                </a:solidFill>
                <a:latin typeface="Arial MT"/>
                <a:cs typeface="Arial MT"/>
              </a:rPr>
              <a:t>toD,</a:t>
            </a:r>
            <a:r>
              <a:rPr dirty="0" sz="2200" spc="-85">
                <a:solidFill>
                  <a:srgbClr val="E6F6FF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8095CF"/>
                </a:solidFill>
                <a:latin typeface="Arial MT"/>
                <a:cs typeface="Arial MT"/>
              </a:rPr>
              <a:t>df,</a:t>
            </a:r>
            <a:r>
              <a:rPr dirty="0" sz="2200" spc="-90">
                <a:solidFill>
                  <a:srgbClr val="8095CF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D6EFFF"/>
                </a:solidFill>
                <a:latin typeface="Arial MT"/>
                <a:cs typeface="Arial MT"/>
              </a:rPr>
              <a:t>etc.)</a:t>
            </a:r>
            <a:endParaRPr sz="2200">
              <a:latin typeface="Arial MT"/>
              <a:cs typeface="Arial MT"/>
            </a:endParaRPr>
          </a:p>
          <a:p>
            <a:pPr marL="308610" marR="257810" indent="-296545">
              <a:lnSpc>
                <a:spcPct val="99900"/>
              </a:lnSpc>
              <a:spcBef>
                <a:spcPts val="585"/>
              </a:spcBef>
              <a:buClr>
                <a:srgbClr val="FFFFFF"/>
              </a:buClr>
              <a:buChar char="•"/>
              <a:tabLst>
                <a:tab pos="313690" algn="l"/>
              </a:tabLst>
            </a:pPr>
            <a:r>
              <a:rPr dirty="0" sz="2200" spc="-90">
                <a:solidFill>
                  <a:srgbClr val="001138"/>
                </a:solidFill>
                <a:latin typeface="Arial MT"/>
                <a:cs typeface="Arial MT"/>
              </a:rPr>
              <a:t>Collec</a:t>
            </a:r>
            <a:r>
              <a:rPr dirty="0" sz="2200" spc="-295">
                <a:solidFill>
                  <a:srgbClr val="00113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00034"/>
                </a:solidFill>
                <a:latin typeface="Arial MT"/>
                <a:cs typeface="Arial MT"/>
              </a:rPr>
              <a:t>t</a:t>
            </a:r>
            <a:r>
              <a:rPr dirty="0" sz="2200">
                <a:solidFill>
                  <a:srgbClr val="000A3A"/>
                </a:solidFill>
                <a:latin typeface="Arial MT"/>
                <a:cs typeface="Arial MT"/>
              </a:rPr>
              <a:t>s</a:t>
            </a:r>
            <a:r>
              <a:rPr dirty="0" sz="2200" spc="-65">
                <a:solidFill>
                  <a:srgbClr val="000A3A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D6DA3"/>
                </a:solidFill>
                <a:latin typeface="Arial MT"/>
                <a:cs typeface="Arial MT"/>
              </a:rPr>
              <a:t>process, </a:t>
            </a:r>
            <a:r>
              <a:rPr dirty="0" sz="2200" spc="-10">
                <a:solidFill>
                  <a:srgbClr val="4D6DA3"/>
                </a:solidFill>
                <a:latin typeface="Arial MT"/>
                <a:cs typeface="Arial MT"/>
              </a:rPr>
              <a:t>	</a:t>
            </a:r>
            <a:r>
              <a:rPr dirty="0" sz="2200" spc="-55">
                <a:solidFill>
                  <a:srgbClr val="11386D"/>
                </a:solidFill>
                <a:latin typeface="Arial MT"/>
                <a:cs typeface="Arial MT"/>
              </a:rPr>
              <a:t>system,</a:t>
            </a:r>
            <a:r>
              <a:rPr dirty="0" sz="2200" spc="-95">
                <a:solidFill>
                  <a:srgbClr val="11386D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000136"/>
                </a:solidFill>
                <a:latin typeface="Arial MT"/>
                <a:cs typeface="Arial MT"/>
              </a:rPr>
              <a:t>and</a:t>
            </a:r>
            <a:r>
              <a:rPr dirty="0" sz="2200" spc="-130">
                <a:solidFill>
                  <a:srgbClr val="000136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031C5E"/>
                </a:solidFill>
                <a:latin typeface="Arial MT"/>
                <a:cs typeface="Arial MT"/>
              </a:rPr>
              <a:t>event </a:t>
            </a:r>
            <a:r>
              <a:rPr dirty="0" sz="2200" spc="-60">
                <a:solidFill>
                  <a:srgbClr val="031C5E"/>
                </a:solidFill>
                <a:latin typeface="Arial MT"/>
                <a:cs typeface="Arial MT"/>
              </a:rPr>
              <a:t>	</a:t>
            </a:r>
            <a:r>
              <a:rPr dirty="0" sz="2200" spc="-10">
                <a:solidFill>
                  <a:srgbClr val="1D316D"/>
                </a:solidFill>
                <a:latin typeface="Arial MT"/>
                <a:cs typeface="Arial MT"/>
              </a:rPr>
              <a:t>in</a:t>
            </a:r>
            <a:r>
              <a:rPr dirty="0" sz="2200" spc="-10">
                <a:solidFill>
                  <a:srgbClr val="051A4F"/>
                </a:solidFill>
                <a:latin typeface="Arial MT"/>
                <a:cs typeface="Arial MT"/>
              </a:rPr>
              <a:t>for</a:t>
            </a:r>
            <a:r>
              <a:rPr dirty="0" sz="2200" spc="-10">
                <a:solidFill>
                  <a:srgbClr val="112456"/>
                </a:solidFill>
                <a:latin typeface="Arial MT"/>
                <a:cs typeface="Arial MT"/>
              </a:rPr>
              <a:t>m</a:t>
            </a:r>
            <a:r>
              <a:rPr dirty="0" sz="2200" spc="-10">
                <a:solidFill>
                  <a:srgbClr val="C6DBFF"/>
                </a:solidFill>
                <a:latin typeface="Arial MT"/>
                <a:cs typeface="Arial MT"/>
              </a:rPr>
              <a:t>ation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56434" y="4288688"/>
            <a:ext cx="2297430" cy="7639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93675" marR="5080" indent="-181610">
              <a:lnSpc>
                <a:spcPts val="2680"/>
              </a:lnSpc>
              <a:spcBef>
                <a:spcPts val="560"/>
              </a:spcBef>
            </a:pPr>
            <a:r>
              <a:rPr dirty="0" sz="2600" spc="-6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26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90">
                <a:solidFill>
                  <a:srgbClr val="FFFFFF"/>
                </a:solidFill>
                <a:latin typeface="Arial MT"/>
                <a:cs typeface="Arial MT"/>
              </a:rPr>
              <a:t>Processing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26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rial MT"/>
                <a:cs typeface="Arial MT"/>
              </a:rPr>
              <a:t>Monitoring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365869" y="4447649"/>
            <a:ext cx="250888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14">
                <a:solidFill>
                  <a:srgbClr val="E2DFF9"/>
                </a:solidFill>
                <a:latin typeface="Arial MT"/>
                <a:cs typeface="Arial MT"/>
              </a:rPr>
              <a:t>Results</a:t>
            </a:r>
            <a:r>
              <a:rPr dirty="0" sz="2600" spc="-35">
                <a:solidFill>
                  <a:srgbClr val="E2DFF9"/>
                </a:solidFill>
                <a:latin typeface="Arial MT"/>
                <a:cs typeface="Arial MT"/>
              </a:rPr>
              <a:t> </a:t>
            </a:r>
            <a:r>
              <a:rPr dirty="0" sz="2600" spc="-2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26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65">
                <a:solidFill>
                  <a:srgbClr val="FFFFFF"/>
                </a:solidFill>
                <a:latin typeface="Arial MT"/>
                <a:cs typeface="Arial MT"/>
              </a:rPr>
              <a:t>Logging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79212" y="5198925"/>
            <a:ext cx="2929255" cy="68453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29565" marR="5080" indent="-317500">
              <a:lnSpc>
                <a:spcPts val="2500"/>
              </a:lnSpc>
              <a:spcBef>
                <a:spcPts val="335"/>
              </a:spcBef>
              <a:buChar char="•"/>
              <a:tabLst>
                <a:tab pos="329565" algn="l"/>
                <a:tab pos="333375" algn="l"/>
              </a:tabLst>
            </a:pPr>
            <a:r>
              <a:rPr dirty="0" sz="22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2200" spc="-195">
                <a:solidFill>
                  <a:srgbClr val="00083D"/>
                </a:solidFill>
                <a:latin typeface="Courier New"/>
                <a:cs typeface="Courier New"/>
              </a:rPr>
              <a:t>P</a:t>
            </a:r>
            <a:r>
              <a:rPr dirty="0" sz="2200" spc="-635">
                <a:solidFill>
                  <a:srgbClr val="00083D"/>
                </a:solidFill>
                <a:latin typeface="Courier New"/>
                <a:cs typeface="Courier New"/>
              </a:rPr>
              <a:t> </a:t>
            </a:r>
            <a:r>
              <a:rPr dirty="0" sz="2200" spc="-365">
                <a:solidFill>
                  <a:srgbClr val="00083D"/>
                </a:solidFill>
                <a:latin typeface="Courier New"/>
                <a:cs typeface="Courier New"/>
              </a:rPr>
              <a:t>ocessc</a:t>
            </a:r>
            <a:r>
              <a:rPr dirty="0" sz="2200" spc="195">
                <a:solidFill>
                  <a:srgbClr val="00083D"/>
                </a:solidFill>
                <a:latin typeface="Courier New"/>
                <a:cs typeface="Courier New"/>
              </a:rPr>
              <a:t> </a:t>
            </a:r>
            <a:r>
              <a:rPr dirty="0" sz="2200" spc="-390">
                <a:solidFill>
                  <a:srgbClr val="15285B"/>
                </a:solidFill>
                <a:latin typeface="Courier New"/>
                <a:cs typeface="Courier New"/>
              </a:rPr>
              <a:t>ihc</a:t>
            </a:r>
            <a:r>
              <a:rPr dirty="0" sz="2200" spc="-750">
                <a:solidFill>
                  <a:srgbClr val="15285B"/>
                </a:solidFill>
                <a:latin typeface="Courier New"/>
                <a:cs typeface="Courier New"/>
              </a:rPr>
              <a:t> </a:t>
            </a:r>
            <a:r>
              <a:rPr dirty="0" sz="2200" spc="-390">
                <a:solidFill>
                  <a:srgbClr val="000A2D"/>
                </a:solidFill>
                <a:latin typeface="Courier New"/>
                <a:cs typeface="Courier New"/>
              </a:rPr>
              <a:t>colecied </a:t>
            </a:r>
            <a:r>
              <a:rPr dirty="0" sz="2200" spc="-425">
                <a:solidFill>
                  <a:srgbClr val="0C1F49"/>
                </a:solidFill>
                <a:latin typeface="Courier New"/>
                <a:cs typeface="Courier New"/>
              </a:rPr>
              <a:t>data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09423" y="5868830"/>
            <a:ext cx="2938780" cy="1033144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00355" marR="91440" indent="-288290">
              <a:lnSpc>
                <a:spcPts val="2500"/>
              </a:lnSpc>
              <a:spcBef>
                <a:spcPts val="335"/>
              </a:spcBef>
              <a:buClr>
                <a:srgbClr val="FFFFFF"/>
              </a:buClr>
              <a:buChar char="•"/>
              <a:tabLst>
                <a:tab pos="300355" algn="l"/>
              </a:tabLst>
            </a:pPr>
            <a:r>
              <a:rPr dirty="0" sz="2200" spc="-110">
                <a:solidFill>
                  <a:srgbClr val="56729C"/>
                </a:solidFill>
                <a:latin typeface="Cambria"/>
                <a:cs typeface="Cambria"/>
              </a:rPr>
              <a:t>Calc</a:t>
            </a:r>
            <a:r>
              <a:rPr dirty="0" sz="2200" spc="-110">
                <a:solidFill>
                  <a:srgbClr val="344670"/>
                </a:solidFill>
                <a:latin typeface="Cambria"/>
                <a:cs typeface="Cambria"/>
              </a:rPr>
              <a:t>dilates</a:t>
            </a:r>
            <a:r>
              <a:rPr dirty="0" sz="2200" spc="20">
                <a:solidFill>
                  <a:srgbClr val="344670"/>
                </a:solidFill>
                <a:latin typeface="Cambria"/>
                <a:cs typeface="Cambria"/>
              </a:rPr>
              <a:t> </a:t>
            </a:r>
            <a:r>
              <a:rPr dirty="0" sz="2200" spc="-85">
                <a:solidFill>
                  <a:srgbClr val="576BA3"/>
                </a:solidFill>
                <a:latin typeface="Cambria"/>
                <a:cs typeface="Cambria"/>
              </a:rPr>
              <a:t>and</a:t>
            </a:r>
            <a:r>
              <a:rPr dirty="0" sz="2200" spc="10">
                <a:solidFill>
                  <a:srgbClr val="576BA3"/>
                </a:solidFill>
                <a:latin typeface="Cambria"/>
                <a:cs typeface="Cambria"/>
              </a:rPr>
              <a:t> </a:t>
            </a:r>
            <a:r>
              <a:rPr dirty="0" sz="2200" spc="-95">
                <a:solidFill>
                  <a:srgbClr val="1C2D66"/>
                </a:solidFill>
                <a:latin typeface="Cambria"/>
                <a:cs typeface="Cambria"/>
              </a:rPr>
              <a:t>formats </a:t>
            </a:r>
            <a:r>
              <a:rPr dirty="0" sz="2200">
                <a:solidFill>
                  <a:srgbClr val="000C46"/>
                </a:solidFill>
                <a:latin typeface="Cambria"/>
                <a:cs typeface="Cambria"/>
              </a:rPr>
              <a:t>the</a:t>
            </a:r>
            <a:r>
              <a:rPr dirty="0" sz="2200" spc="-15">
                <a:solidFill>
                  <a:srgbClr val="000C46"/>
                </a:solidFill>
                <a:latin typeface="Cambria"/>
                <a:cs typeface="Cambria"/>
              </a:rPr>
              <a:t> </a:t>
            </a:r>
            <a:r>
              <a:rPr dirty="0" sz="2200" spc="-290">
                <a:solidFill>
                  <a:srgbClr val="8093BD"/>
                </a:solidFill>
                <a:latin typeface="Cambria"/>
                <a:cs typeface="Cambria"/>
              </a:rPr>
              <a:t>reset</a:t>
            </a:r>
            <a:r>
              <a:rPr dirty="0" sz="2200" spc="-145">
                <a:solidFill>
                  <a:srgbClr val="8093BD"/>
                </a:solidFill>
                <a:latin typeface="Cambria"/>
                <a:cs typeface="Cambria"/>
              </a:rPr>
              <a:t> </a:t>
            </a:r>
            <a:r>
              <a:rPr dirty="0" sz="2200" spc="-25">
                <a:solidFill>
                  <a:srgbClr val="314879"/>
                </a:solidFill>
                <a:latin typeface="Cambria"/>
                <a:cs typeface="Cambria"/>
              </a:rPr>
              <a:t>Its</a:t>
            </a:r>
            <a:endParaRPr sz="2200">
              <a:latin typeface="Cambria"/>
              <a:cs typeface="Cambria"/>
            </a:endParaRPr>
          </a:p>
          <a:p>
            <a:pPr marL="307975" indent="-288925">
              <a:lnSpc>
                <a:spcPct val="100000"/>
              </a:lnSpc>
              <a:spcBef>
                <a:spcPts val="175"/>
              </a:spcBef>
              <a:buClr>
                <a:srgbClr val="FFFFFF"/>
              </a:buClr>
              <a:buChar char="•"/>
              <a:tabLst>
                <a:tab pos="307975" algn="l"/>
              </a:tabLst>
            </a:pPr>
            <a:r>
              <a:rPr dirty="0" sz="2100" spc="-40">
                <a:solidFill>
                  <a:srgbClr val="3D4F7E"/>
                </a:solidFill>
                <a:latin typeface="Arial MT"/>
                <a:cs typeface="Arial MT"/>
              </a:rPr>
              <a:t>Monitors</a:t>
            </a:r>
            <a:r>
              <a:rPr dirty="0" sz="2100" spc="-110">
                <a:solidFill>
                  <a:srgbClr val="3D4F7E"/>
                </a:solidFill>
                <a:latin typeface="Arial MT"/>
                <a:cs typeface="Arial MT"/>
              </a:rPr>
              <a:t> </a:t>
            </a:r>
            <a:r>
              <a:rPr dirty="0" sz="2100" spc="-105">
                <a:solidFill>
                  <a:srgbClr val="000034"/>
                </a:solidFill>
                <a:latin typeface="Arial MT"/>
                <a:cs typeface="Arial MT"/>
              </a:rPr>
              <a:t>CPU</a:t>
            </a:r>
            <a:r>
              <a:rPr dirty="0" sz="2100" spc="85">
                <a:solidFill>
                  <a:srgbClr val="000034"/>
                </a:solidFill>
                <a:latin typeface="Arial MT"/>
                <a:cs typeface="Arial MT"/>
              </a:rPr>
              <a:t> </a:t>
            </a:r>
            <a:r>
              <a:rPr dirty="0" sz="2100" spc="-75">
                <a:solidFill>
                  <a:srgbClr val="082D5D"/>
                </a:solidFill>
                <a:latin typeface="Arial MT"/>
                <a:cs typeface="Arial MT"/>
              </a:rPr>
              <a:t>memory,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207361" y="5203341"/>
            <a:ext cx="2819400" cy="1635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00990" indent="-288290">
              <a:lnSpc>
                <a:spcPts val="2505"/>
              </a:lnSpc>
              <a:spcBef>
                <a:spcPts val="110"/>
              </a:spcBef>
              <a:buClr>
                <a:srgbClr val="FFFFFF"/>
              </a:buClr>
              <a:buChar char="•"/>
              <a:tabLst>
                <a:tab pos="300990" algn="l"/>
              </a:tabLst>
            </a:pPr>
            <a:r>
              <a:rPr dirty="0" sz="2100" spc="-155">
                <a:solidFill>
                  <a:srgbClr val="162A69"/>
                </a:solidFill>
                <a:latin typeface="Arial MT"/>
                <a:cs typeface="Arial MT"/>
              </a:rPr>
              <a:t>Displays</a:t>
            </a:r>
            <a:r>
              <a:rPr dirty="0" sz="2100">
                <a:solidFill>
                  <a:srgbClr val="162A69"/>
                </a:solidFill>
                <a:latin typeface="Arial MT"/>
                <a:cs typeface="Arial MT"/>
              </a:rPr>
              <a:t> </a:t>
            </a:r>
            <a:r>
              <a:rPr dirty="0" sz="2100" spc="-45">
                <a:solidFill>
                  <a:srgbClr val="0C1D49"/>
                </a:solidFill>
                <a:latin typeface="Arial MT"/>
                <a:cs typeface="Arial MT"/>
              </a:rPr>
              <a:t>the</a:t>
            </a:r>
            <a:r>
              <a:rPr dirty="0" sz="2100" spc="-50">
                <a:solidFill>
                  <a:srgbClr val="0C1D49"/>
                </a:solidFill>
                <a:latin typeface="Arial MT"/>
                <a:cs typeface="Arial MT"/>
              </a:rPr>
              <a:t> </a:t>
            </a:r>
            <a:r>
              <a:rPr dirty="0" sz="2100" spc="-65">
                <a:solidFill>
                  <a:srgbClr val="0E2352"/>
                </a:solidFill>
                <a:latin typeface="Arial MT"/>
                <a:cs typeface="Arial MT"/>
              </a:rPr>
              <a:t>monitoring</a:t>
            </a:r>
            <a:endParaRPr sz="2100">
              <a:latin typeface="Arial MT"/>
              <a:cs typeface="Arial MT"/>
            </a:endParaRPr>
          </a:p>
          <a:p>
            <a:pPr marL="303530">
              <a:lnSpc>
                <a:spcPts val="2625"/>
              </a:lnSpc>
            </a:pPr>
            <a:r>
              <a:rPr dirty="0" sz="2200" spc="-125">
                <a:solidFill>
                  <a:srgbClr val="000336"/>
                </a:solidFill>
                <a:latin typeface="Arial MT"/>
                <a:cs typeface="Arial MT"/>
              </a:rPr>
              <a:t>results</a:t>
            </a:r>
            <a:r>
              <a:rPr dirty="0" sz="2200" spc="-30">
                <a:solidFill>
                  <a:srgbClr val="000336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08235D"/>
                </a:solidFill>
                <a:latin typeface="Arial MT"/>
                <a:cs typeface="Arial MT"/>
              </a:rPr>
              <a:t>in</a:t>
            </a:r>
            <a:r>
              <a:rPr dirty="0" sz="2200" spc="-120">
                <a:solidFill>
                  <a:srgbClr val="08235D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000E46"/>
                </a:solidFill>
                <a:latin typeface="Arial MT"/>
                <a:cs typeface="Arial MT"/>
              </a:rPr>
              <a:t>the</a:t>
            </a:r>
            <a:r>
              <a:rPr dirty="0" sz="2200" spc="-135">
                <a:solidFill>
                  <a:srgbClr val="000E46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13266B"/>
                </a:solidFill>
                <a:latin typeface="Arial MT"/>
                <a:cs typeface="Arial MT"/>
              </a:rPr>
              <a:t>tern</a:t>
            </a:r>
            <a:r>
              <a:rPr dirty="0" sz="2200" spc="-55">
                <a:solidFill>
                  <a:srgbClr val="13266B"/>
                </a:solidFill>
                <a:latin typeface="Arial MT"/>
                <a:cs typeface="Arial MT"/>
              </a:rPr>
              <a:t> </a:t>
            </a:r>
            <a:r>
              <a:rPr dirty="0" sz="2200" spc="-265">
                <a:solidFill>
                  <a:srgbClr val="05245D"/>
                </a:solidFill>
                <a:latin typeface="Arial MT"/>
                <a:cs typeface="Arial MT"/>
              </a:rPr>
              <a:t>i</a:t>
            </a:r>
            <a:r>
              <a:rPr dirty="0" sz="2200" spc="60">
                <a:solidFill>
                  <a:srgbClr val="05245D"/>
                </a:solidFill>
                <a:latin typeface="Arial MT"/>
                <a:cs typeface="Arial MT"/>
              </a:rPr>
              <a:t> </a:t>
            </a:r>
            <a:r>
              <a:rPr dirty="0" sz="2200" spc="-409">
                <a:solidFill>
                  <a:srgbClr val="05245D"/>
                </a:solidFill>
                <a:latin typeface="Arial MT"/>
                <a:cs typeface="Arial MT"/>
              </a:rPr>
              <a:t>Tal</a:t>
            </a:r>
            <a:endParaRPr sz="2200">
              <a:latin typeface="Arial MT"/>
              <a:cs typeface="Arial MT"/>
            </a:endParaRPr>
          </a:p>
          <a:p>
            <a:pPr marL="307340" marR="26034" indent="-294005">
              <a:lnSpc>
                <a:spcPct val="104000"/>
              </a:lnSpc>
              <a:spcBef>
                <a:spcPts val="480"/>
              </a:spcBef>
              <a:buChar char="•"/>
              <a:tabLst>
                <a:tab pos="307340" algn="l"/>
                <a:tab pos="311150" algn="l"/>
              </a:tabLst>
            </a:pPr>
            <a:r>
              <a:rPr dirty="0" sz="18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850" spc="-229">
                <a:solidFill>
                  <a:srgbClr val="0A1F59"/>
                </a:solidFill>
                <a:latin typeface="Arial MT"/>
                <a:cs typeface="Arial MT"/>
              </a:rPr>
              <a:t>S</a:t>
            </a:r>
            <a:r>
              <a:rPr dirty="0" sz="1850" spc="-235">
                <a:solidFill>
                  <a:srgbClr val="0A1F59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0A1A4D"/>
                </a:solidFill>
                <a:latin typeface="Arial MT"/>
                <a:cs typeface="Arial MT"/>
              </a:rPr>
              <a:t>th</a:t>
            </a:r>
            <a:r>
              <a:rPr dirty="0" sz="1850" spc="445">
                <a:solidFill>
                  <a:srgbClr val="0A1A4D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0A1C4B"/>
                </a:solidFill>
                <a:latin typeface="Arial MT"/>
                <a:cs typeface="Arial MT"/>
              </a:rPr>
              <a:t>es </a:t>
            </a:r>
            <a:r>
              <a:rPr dirty="0" sz="1850">
                <a:solidFill>
                  <a:srgbClr val="1C3672"/>
                </a:solidFill>
                <a:latin typeface="Arial MT"/>
                <a:cs typeface="Arial MT"/>
              </a:rPr>
              <a:t>In</a:t>
            </a:r>
            <a:r>
              <a:rPr dirty="0" sz="1850" spc="175">
                <a:solidFill>
                  <a:srgbClr val="1C3672"/>
                </a:solidFill>
                <a:latin typeface="Arial MT"/>
                <a:cs typeface="Arial MT"/>
              </a:rPr>
              <a:t> </a:t>
            </a:r>
            <a:r>
              <a:rPr dirty="0" sz="1850" spc="50">
                <a:solidFill>
                  <a:srgbClr val="1F3672"/>
                </a:solidFill>
                <a:latin typeface="Arial MT"/>
                <a:cs typeface="Arial MT"/>
              </a:rPr>
              <a:t>per</a:t>
            </a:r>
            <a:r>
              <a:rPr dirty="0" sz="1850" spc="-229">
                <a:solidFill>
                  <a:srgbClr val="1F3672"/>
                </a:solidFill>
                <a:latin typeface="Arial MT"/>
                <a:cs typeface="Arial MT"/>
              </a:rPr>
              <a:t> </a:t>
            </a:r>
            <a:r>
              <a:rPr dirty="0" sz="1850" spc="-20">
                <a:solidFill>
                  <a:srgbClr val="BDCFFF"/>
                </a:solidFill>
                <a:latin typeface="Arial MT"/>
                <a:cs typeface="Arial MT"/>
              </a:rPr>
              <a:t>Lai</a:t>
            </a:r>
            <a:r>
              <a:rPr dirty="0" sz="1850" spc="-20">
                <a:solidFill>
                  <a:srgbClr val="001660"/>
                </a:solidFill>
                <a:latin typeface="Arial MT"/>
                <a:cs typeface="Arial MT"/>
              </a:rPr>
              <a:t>It </a:t>
            </a:r>
            <a:r>
              <a:rPr dirty="0" sz="1950" spc="-10">
                <a:solidFill>
                  <a:srgbClr val="0A2156"/>
                </a:solidFill>
                <a:latin typeface="Arial MT"/>
                <a:cs typeface="Arial MT"/>
              </a:rPr>
              <a:t>ttJformation</a:t>
            </a:r>
            <a:r>
              <a:rPr dirty="0" sz="1950" spc="140">
                <a:solidFill>
                  <a:srgbClr val="0A2156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F64"/>
                </a:solidFill>
                <a:latin typeface="Arial MT"/>
                <a:cs typeface="Arial MT"/>
              </a:rPr>
              <a:t>ill</a:t>
            </a:r>
            <a:r>
              <a:rPr dirty="0" sz="1950" spc="165">
                <a:solidFill>
                  <a:srgbClr val="000F64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8164F"/>
                </a:solidFill>
                <a:latin typeface="Arial MT"/>
                <a:cs typeface="Arial MT"/>
              </a:rPr>
              <a:t>log </a:t>
            </a:r>
            <a:r>
              <a:rPr dirty="0" sz="1950" spc="-10">
                <a:solidFill>
                  <a:srgbClr val="0C2475"/>
                </a:solidFill>
                <a:latin typeface="Arial MT"/>
                <a:cs typeface="Arial MT"/>
              </a:rPr>
              <a:t>flies </a:t>
            </a:r>
            <a:r>
              <a:rPr dirty="0" sz="1850">
                <a:solidFill>
                  <a:srgbClr val="C3D8FF"/>
                </a:solidFill>
                <a:latin typeface="Arial MT"/>
                <a:cs typeface="Arial MT"/>
              </a:rPr>
              <a:t>(</a:t>
            </a:r>
            <a:r>
              <a:rPr dirty="0" sz="1850" spc="105">
                <a:solidFill>
                  <a:srgbClr val="C3D8FF"/>
                </a:solidFill>
                <a:latin typeface="Arial MT"/>
                <a:cs typeface="Arial MT"/>
              </a:rPr>
              <a:t>  </a:t>
            </a:r>
            <a:r>
              <a:rPr dirty="0" sz="1850" spc="55">
                <a:solidFill>
                  <a:srgbClr val="C3D8FF"/>
                </a:solidFill>
                <a:latin typeface="Arial MT"/>
                <a:cs typeface="Arial MT"/>
              </a:rPr>
              <a:t>pt,gt\g|]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8810939"/>
            <a:ext cx="18277205" cy="329565"/>
          </a:xfrm>
          <a:custGeom>
            <a:avLst/>
            <a:gdLst/>
            <a:ahLst/>
            <a:cxnLst/>
            <a:rect l="l" t="t" r="r" b="b"/>
            <a:pathLst>
              <a:path w="18277205" h="329565">
                <a:moveTo>
                  <a:pt x="18276648" y="329274"/>
                </a:moveTo>
                <a:lnTo>
                  <a:pt x="0" y="329274"/>
                </a:lnTo>
                <a:lnTo>
                  <a:pt x="0" y="0"/>
                </a:lnTo>
                <a:lnTo>
                  <a:pt x="18276648" y="0"/>
                </a:lnTo>
                <a:lnTo>
                  <a:pt x="18276648" y="329274"/>
                </a:lnTo>
                <a:close/>
              </a:path>
            </a:pathLst>
          </a:custGeom>
          <a:solidFill>
            <a:srgbClr val="0542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047159" y="8721283"/>
            <a:ext cx="6087745" cy="4044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-75">
                <a:solidFill>
                  <a:srgbClr val="0C1F46"/>
                </a:solidFill>
                <a:latin typeface="Arial MT"/>
                <a:cs typeface="Arial MT"/>
              </a:rPr>
              <a:t>Repeat</a:t>
            </a:r>
            <a:r>
              <a:rPr dirty="0" sz="2450" spc="15">
                <a:solidFill>
                  <a:srgbClr val="0C1F46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6B80A3"/>
                </a:solidFill>
                <a:latin typeface="Arial MT"/>
                <a:cs typeface="Arial MT"/>
              </a:rPr>
              <a:t>for</a:t>
            </a:r>
            <a:r>
              <a:rPr dirty="0" sz="2450" spc="-75">
                <a:solidFill>
                  <a:srgbClr val="6B80A3"/>
                </a:solidFill>
                <a:latin typeface="Arial MT"/>
                <a:cs typeface="Arial MT"/>
              </a:rPr>
              <a:t> </a:t>
            </a:r>
            <a:r>
              <a:rPr dirty="0" sz="2450" spc="-45">
                <a:solidFill>
                  <a:srgbClr val="FFFFFF"/>
                </a:solidFill>
                <a:latin typeface="Arial MT"/>
                <a:cs typeface="Arial MT"/>
              </a:rPr>
              <a:t>continuous</a:t>
            </a:r>
            <a:r>
              <a:rPr dirty="0" sz="24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9F9F9"/>
                </a:solidFill>
                <a:latin typeface="Arial MT"/>
                <a:cs typeface="Arial MT"/>
              </a:rPr>
              <a:t>monitoring</a:t>
            </a:r>
            <a:r>
              <a:rPr dirty="0" sz="2450" spc="-35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0F1D41"/>
                </a:solidFill>
                <a:latin typeface="Arial MT"/>
                <a:cs typeface="Arial MT"/>
              </a:rPr>
              <a:t>(if</a:t>
            </a:r>
            <a:r>
              <a:rPr dirty="0" sz="2450" spc="-105">
                <a:solidFill>
                  <a:srgbClr val="0F1D41"/>
                </a:solidFill>
                <a:latin typeface="Arial MT"/>
                <a:cs typeface="Arial MT"/>
              </a:rPr>
              <a:t> </a:t>
            </a:r>
            <a:r>
              <a:rPr dirty="0" sz="2450" spc="-55">
                <a:solidFill>
                  <a:srgbClr val="E1F4FF"/>
                </a:solidFill>
                <a:latin typeface="Arial MT"/>
                <a:cs typeface="Arial MT"/>
              </a:rPr>
              <a:t>selected)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0" y="142115"/>
            <a:ext cx="18288000" cy="175260"/>
            <a:chOff x="0" y="142115"/>
            <a:chExt cx="18288000" cy="1752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2115"/>
              <a:ext cx="18288000" cy="1749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2115"/>
              <a:ext cx="18288000" cy="174911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0" y="798033"/>
            <a:ext cx="18277205" cy="688975"/>
          </a:xfrm>
          <a:custGeom>
            <a:avLst/>
            <a:gdLst/>
            <a:ahLst/>
            <a:cxnLst/>
            <a:rect l="l" t="t" r="r" b="b"/>
            <a:pathLst>
              <a:path w="18277205" h="688975">
                <a:moveTo>
                  <a:pt x="18277058" y="688715"/>
                </a:moveTo>
                <a:lnTo>
                  <a:pt x="0" y="688715"/>
                </a:lnTo>
                <a:lnTo>
                  <a:pt x="0" y="0"/>
                </a:lnTo>
                <a:lnTo>
                  <a:pt x="18277058" y="0"/>
                </a:lnTo>
                <a:lnTo>
                  <a:pt x="18277058" y="688715"/>
                </a:lnTo>
                <a:close/>
              </a:path>
            </a:pathLst>
          </a:custGeom>
          <a:solidFill>
            <a:srgbClr val="0349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31694" y="505961"/>
            <a:ext cx="7845425" cy="10826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 spc="-975">
                <a:solidFill>
                  <a:srgbClr val="FFFFFF"/>
                </a:solidFill>
              </a:rPr>
              <a:t>OUTPUT</a:t>
            </a:r>
            <a:r>
              <a:rPr dirty="0" sz="6900" spc="420">
                <a:solidFill>
                  <a:srgbClr val="FFFFFF"/>
                </a:solidFill>
              </a:rPr>
              <a:t> </a:t>
            </a:r>
            <a:r>
              <a:rPr dirty="0" sz="6900" spc="-345">
                <a:solidFill>
                  <a:srgbClr val="F2F2F2"/>
                </a:solidFill>
              </a:rPr>
              <a:t>/</a:t>
            </a:r>
            <a:r>
              <a:rPr dirty="0" sz="6900" spc="860">
                <a:solidFill>
                  <a:srgbClr val="F2F2F2"/>
                </a:solidFill>
              </a:rPr>
              <a:t> </a:t>
            </a:r>
            <a:r>
              <a:rPr dirty="0" sz="6900" spc="-1190">
                <a:solidFill>
                  <a:srgbClr val="F0F0F0"/>
                </a:solidFill>
              </a:rPr>
              <a:t>RESULTS</a:t>
            </a:r>
            <a:endParaRPr sz="6900"/>
          </a:p>
        </p:txBody>
      </p:sp>
      <p:sp>
        <p:nvSpPr>
          <p:cNvPr id="4" name="object 4"/>
          <p:cNvSpPr/>
          <p:nvPr/>
        </p:nvSpPr>
        <p:spPr>
          <a:xfrm>
            <a:off x="1618794" y="1643441"/>
            <a:ext cx="7525384" cy="0"/>
          </a:xfrm>
          <a:custGeom>
            <a:avLst/>
            <a:gdLst/>
            <a:ahLst/>
            <a:cxnLst/>
            <a:rect l="l" t="t" r="r" b="b"/>
            <a:pathLst>
              <a:path w="7525384" h="0">
                <a:moveTo>
                  <a:pt x="0" y="0"/>
                </a:moveTo>
                <a:lnTo>
                  <a:pt x="7525204" y="0"/>
                </a:lnTo>
              </a:path>
            </a:pathLst>
          </a:custGeom>
          <a:ln w="29151">
            <a:solidFill>
              <a:srgbClr val="004BB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0" y="2022416"/>
            <a:ext cx="18277205" cy="229870"/>
            <a:chOff x="0" y="2022416"/>
            <a:chExt cx="18277205" cy="22987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5684" y="2066145"/>
              <a:ext cx="2800076" cy="1639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0536" y="2066145"/>
              <a:ext cx="2625072" cy="1530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641" y="2055213"/>
              <a:ext cx="710956" cy="17491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93934" y="2055213"/>
              <a:ext cx="667205" cy="17491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2022416"/>
              <a:ext cx="18277205" cy="229870"/>
            </a:xfrm>
            <a:custGeom>
              <a:avLst/>
              <a:gdLst/>
              <a:ahLst/>
              <a:cxnLst/>
              <a:rect l="l" t="t" r="r" b="b"/>
              <a:pathLst>
                <a:path w="18277205" h="229869">
                  <a:moveTo>
                    <a:pt x="18277058" y="229571"/>
                  </a:moveTo>
                  <a:lnTo>
                    <a:pt x="0" y="229571"/>
                  </a:lnTo>
                  <a:lnTo>
                    <a:pt x="0" y="0"/>
                  </a:lnTo>
                  <a:lnTo>
                    <a:pt x="18277058" y="0"/>
                  </a:lnTo>
                  <a:lnTo>
                    <a:pt x="18277058" y="229571"/>
                  </a:lnTo>
                  <a:close/>
                </a:path>
              </a:pathLst>
            </a:custGeom>
            <a:solidFill>
              <a:srgbClr val="013BC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2258207" y="1850595"/>
            <a:ext cx="73850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90">
                <a:solidFill>
                  <a:srgbClr val="F45E4F"/>
                </a:solidFill>
                <a:latin typeface="Arial MT"/>
                <a:cs typeface="Arial MT"/>
              </a:rPr>
              <a:t>e</a:t>
            </a:r>
            <a:r>
              <a:rPr dirty="0" sz="2600" spc="-105">
                <a:solidFill>
                  <a:srgbClr val="F45E4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DC426"/>
                </a:solidFill>
                <a:latin typeface="Arial MT"/>
                <a:cs typeface="Arial MT"/>
              </a:rPr>
              <a:t>ø</a:t>
            </a:r>
            <a:r>
              <a:rPr dirty="0" sz="2600" spc="-180">
                <a:solidFill>
                  <a:srgbClr val="FDC426"/>
                </a:solidFill>
                <a:latin typeface="Arial MT"/>
                <a:cs typeface="Arial MT"/>
              </a:rPr>
              <a:t> </a:t>
            </a:r>
            <a:r>
              <a:rPr dirty="0" sz="2600" spc="-50">
                <a:solidFill>
                  <a:srgbClr val="4BD656"/>
                </a:solidFill>
                <a:latin typeface="Arial MT"/>
                <a:cs typeface="Arial MT"/>
              </a:rPr>
              <a:t>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96137" y="1991497"/>
            <a:ext cx="275590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smitaØsmita-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Linux:</a:t>
            </a:r>
            <a:r>
              <a:rPr dirty="0" sz="1400" spc="2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-/tinux-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monitor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2372240"/>
            <a:ext cx="18277205" cy="2853690"/>
            <a:chOff x="0" y="2372240"/>
            <a:chExt cx="18277205" cy="285369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6267" y="4711686"/>
              <a:ext cx="1979742" cy="18584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23492" y="4963121"/>
              <a:ext cx="853148" cy="15304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86037" y="4963121"/>
              <a:ext cx="415636" cy="1421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48622" y="2754859"/>
              <a:ext cx="2570382" cy="2186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26899" y="2481559"/>
              <a:ext cx="1651608" cy="15304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326899" y="4821005"/>
              <a:ext cx="2012555" cy="16397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5330" y="2503425"/>
              <a:ext cx="1771923" cy="18584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25110" y="2481559"/>
              <a:ext cx="5031386" cy="22957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96995" y="4657025"/>
              <a:ext cx="339071" cy="26236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64315" y="2481559"/>
              <a:ext cx="2482880" cy="1967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892626" y="4777277"/>
              <a:ext cx="339071" cy="24050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59559" y="3115614"/>
              <a:ext cx="4068861" cy="19677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0" y="2372240"/>
              <a:ext cx="18277205" cy="2853690"/>
            </a:xfrm>
            <a:custGeom>
              <a:avLst/>
              <a:gdLst/>
              <a:ahLst/>
              <a:cxnLst/>
              <a:rect l="l" t="t" r="r" b="b"/>
              <a:pathLst>
                <a:path w="18277205" h="2853690">
                  <a:moveTo>
                    <a:pt x="18277058" y="2853248"/>
                  </a:moveTo>
                  <a:lnTo>
                    <a:pt x="0" y="2853248"/>
                  </a:lnTo>
                  <a:lnTo>
                    <a:pt x="0" y="0"/>
                  </a:lnTo>
                  <a:lnTo>
                    <a:pt x="18277058" y="0"/>
                  </a:lnTo>
                  <a:lnTo>
                    <a:pt x="18277058" y="2853248"/>
                  </a:lnTo>
                  <a:close/>
                </a:path>
              </a:pathLst>
            </a:custGeom>
            <a:solidFill>
              <a:srgbClr val="00289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15572968" y="2398409"/>
            <a:ext cx="2159635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3365" algn="l"/>
              </a:tabLst>
            </a:pPr>
            <a:r>
              <a:rPr dirty="0" sz="1650" spc="-50">
                <a:solidFill>
                  <a:srgbClr val="FFFFFF"/>
                </a:solidFill>
                <a:latin typeface="Cambria"/>
                <a:cs typeface="Cambria"/>
              </a:rPr>
              <a:t>$</a:t>
            </a:r>
            <a:r>
              <a:rPr dirty="0" sz="1650">
                <a:solidFill>
                  <a:srgbClr val="FFFFFF"/>
                </a:solidFill>
                <a:latin typeface="Cambria"/>
                <a:cs typeface="Cambria"/>
              </a:rPr>
              <a:t>	.</a:t>
            </a:r>
            <a:r>
              <a:rPr dirty="0" sz="165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50" spc="-155">
                <a:solidFill>
                  <a:srgbClr val="F2F2F2"/>
                </a:solidFill>
                <a:latin typeface="Cambria"/>
                <a:cs typeface="Cambria"/>
              </a:rPr>
              <a:t>/ </a:t>
            </a:r>
            <a:r>
              <a:rPr dirty="0" sz="1650">
                <a:solidFill>
                  <a:srgbClr val="FFFFFF"/>
                </a:solidFill>
                <a:latin typeface="Cambria"/>
                <a:cs typeface="Cambria"/>
              </a:rPr>
              <a:t>process</a:t>
            </a:r>
            <a:r>
              <a:rPr dirty="0" sz="1650" spc="18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650" spc="-110">
                <a:solidFill>
                  <a:srgbClr val="FFFFFF"/>
                </a:solidFill>
                <a:latin typeface="Cambria"/>
                <a:cs typeface="Cambria"/>
              </a:rPr>
              <a:t>wat</a:t>
            </a:r>
            <a:r>
              <a:rPr dirty="0" sz="1650" spc="-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Cambria"/>
                <a:cs typeface="Cambria"/>
              </a:rPr>
              <a:t>chdog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13643" y="2833260"/>
            <a:ext cx="1955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365">
                <a:solidFill>
                  <a:srgbClr val="FFFFFF"/>
                </a:solidFill>
                <a:latin typeface="Cambria"/>
                <a:cs typeface="Cambria"/>
              </a:rPr>
              <a:t>U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13317" y="2787710"/>
            <a:ext cx="13144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5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00401" y="2650409"/>
            <a:ext cx="2738755" cy="60833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1292225" algn="l"/>
                <a:tab pos="2267585" algn="l"/>
              </a:tabLst>
            </a:pPr>
            <a:r>
              <a:rPr dirty="0" sz="1800" spc="-95">
                <a:solidFill>
                  <a:srgbClr val="FFFFFF"/>
                </a:solidFill>
                <a:latin typeface="Cambria"/>
                <a:cs typeface="Cambria"/>
              </a:rPr>
              <a:t>===</a:t>
            </a:r>
            <a:r>
              <a:rPr dirty="0" sz="18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Process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Watchdog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105">
                <a:solidFill>
                  <a:srgbClr val="FFFFFF"/>
                </a:solidFill>
                <a:latin typeface="Cambria"/>
                <a:cs typeface="Cambria"/>
              </a:rPr>
              <a:t>--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endParaRPr sz="1800">
              <a:latin typeface="Cambria"/>
              <a:cs typeface="Cambria"/>
            </a:endParaRPr>
          </a:p>
          <a:p>
            <a:pPr marL="13335">
              <a:lnSpc>
                <a:spcPct val="100000"/>
              </a:lnSpc>
              <a:spcBef>
                <a:spcPts val="229"/>
              </a:spcBef>
              <a:tabLst>
                <a:tab pos="2631440" algn="l"/>
              </a:tabLst>
            </a:pPr>
            <a:r>
              <a:rPr dirty="0" sz="1650">
                <a:solidFill>
                  <a:srgbClr val="FFFFFF"/>
                </a:solidFill>
                <a:latin typeface="Cambria"/>
                <a:cs typeface="Cambria"/>
              </a:rPr>
              <a:t>Enter</a:t>
            </a:r>
            <a:r>
              <a:rPr dirty="0" sz="1650" spc="45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50" spc="60">
                <a:solidFill>
                  <a:srgbClr val="FFFFFF"/>
                </a:solidFill>
                <a:latin typeface="Cambria"/>
                <a:cs typeface="Cambria"/>
              </a:rPr>
              <a:t>PI0</a:t>
            </a:r>
            <a:r>
              <a:rPr dirty="0" sz="1650" spc="4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50" spc="55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650" spc="9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650" spc="-30">
                <a:solidFill>
                  <a:srgbClr val="FFFFFF"/>
                </a:solidFill>
                <a:latin typeface="Cambria"/>
                <a:cs typeface="Cambria"/>
              </a:rPr>
              <a:t>monitor</a:t>
            </a:r>
            <a:r>
              <a:rPr dirty="0" sz="1650" spc="-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65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650" spc="-35">
                <a:solidFill>
                  <a:srgbClr val="3BA51F"/>
                </a:solidFill>
                <a:latin typeface="Cambria"/>
                <a:cs typeface="Cambria"/>
              </a:rPr>
              <a:t>i'</a:t>
            </a:r>
            <a:endParaRPr sz="1650">
              <a:latin typeface="Cambria"/>
              <a:cs typeface="Cambria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562146" y="3227167"/>
          <a:ext cx="10330180" cy="685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9400"/>
                <a:gridCol w="1155064"/>
                <a:gridCol w="660400"/>
                <a:gridCol w="2198369"/>
                <a:gridCol w="1463040"/>
                <a:gridCol w="1052195"/>
                <a:gridCol w="1024254"/>
                <a:gridCol w="1151254"/>
              </a:tblGrid>
              <a:tr h="382905">
                <a:tc>
                  <a:txBody>
                    <a:bodyPr/>
                    <a:lstStyle/>
                    <a:p>
                      <a:pPr marL="502284">
                        <a:lnSpc>
                          <a:spcPts val="2065"/>
                        </a:lnSpc>
                      </a:pPr>
                      <a:r>
                        <a:rPr dirty="0" sz="1800" spc="3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385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65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1234</a:t>
                      </a:r>
                      <a:endParaRPr sz="1650">
                        <a:latin typeface="Cambria"/>
                        <a:cs typeface="Cambria"/>
                      </a:endParaRPr>
                    </a:p>
                  </a:txBody>
                  <a:tcPr marL="0" marR="0" marB="0" marT="116205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marL="37211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6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2.</a:t>
                      </a:r>
                      <a:r>
                        <a:rPr dirty="0" sz="1650" spc="1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50" spc="-50">
                          <a:solidFill>
                            <a:srgbClr val="BFBFB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650">
                        <a:latin typeface="Cambria"/>
                        <a:cs typeface="Cambria"/>
                      </a:endParaRPr>
                    </a:p>
                  </a:txBody>
                  <a:tcPr marL="0" marR="0" marB="0" marT="116205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6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1.</a:t>
                      </a:r>
                      <a:r>
                        <a:rPr dirty="0" sz="1650" spc="204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50" spc="-50">
                          <a:solidFill>
                            <a:srgbClr val="E4E4E4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650">
                        <a:latin typeface="Cambria"/>
                        <a:cs typeface="Cambria"/>
                      </a:endParaRPr>
                    </a:p>
                  </a:txBody>
                  <a:tcPr marL="0" marR="0" marB="0" marT="116205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65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bash</a:t>
                      </a:r>
                      <a:endParaRPr sz="1650">
                        <a:latin typeface="Cambria"/>
                        <a:cs typeface="Cambria"/>
                      </a:endParaRPr>
                    </a:p>
                  </a:txBody>
                  <a:tcPr marL="0" marR="0" marB="0" marT="116205">
                    <a:solidFill>
                      <a:srgbClr val="002891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marL="31750">
                        <a:lnSpc>
                          <a:spcPts val="2225"/>
                        </a:lnSpc>
                        <a:spcBef>
                          <a:spcPts val="55"/>
                        </a:spcBef>
                      </a:pPr>
                      <a:r>
                        <a:rPr dirty="0" sz="1900" spc="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</a:t>
                      </a:r>
                      <a:r>
                        <a:rPr dirty="0" sz="1900" spc="-9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dirty="0" sz="1900" spc="-1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*</a:t>
                      </a:r>
                      <a:r>
                        <a:rPr dirty="0" sz="1900" spc="-76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</a:t>
                      </a:r>
                      <a:r>
                        <a:rPr dirty="0" sz="1900" spc="-3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</a:t>
                      </a:r>
                      <a:r>
                        <a:rPr dirty="0" sz="1900" spc="1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1900" spc="10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1050" spc="31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'2</a:t>
                      </a:r>
                      <a:r>
                        <a:rPr dirty="0" sz="1900" spc="31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8e*”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B="0" marT="6985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2225"/>
                        </a:lnSpc>
                        <a:spcBef>
                          <a:spcPts val="55"/>
                        </a:spcBef>
                      </a:pPr>
                      <a:r>
                        <a:rPr dirty="0" sz="1900" spc="3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’*56</a:t>
                      </a:r>
                      <a:r>
                        <a:rPr dirty="0" sz="1900" spc="2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900" spc="28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3‘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B="0" marT="6985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2225"/>
                        </a:lnSpc>
                        <a:spcBef>
                          <a:spcPts val="55"/>
                        </a:spcBef>
                      </a:pPr>
                      <a:r>
                        <a:rPr dirty="0" sz="19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</a:t>
                      </a:r>
                      <a:r>
                        <a:rPr dirty="0" sz="1900" spc="2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9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'50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B="0" marT="6985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2225"/>
                        </a:lnSpc>
                        <a:spcBef>
                          <a:spcPts val="55"/>
                        </a:spcBef>
                      </a:pPr>
                      <a:r>
                        <a:rPr dirty="0" sz="1900" spc="-8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GB</a:t>
                      </a:r>
                      <a:r>
                        <a:rPr dirty="0" sz="1900" spc="28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900" spc="-2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/</a:t>
                      </a:r>
                      <a:r>
                        <a:rPr dirty="0" sz="1900" spc="38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900" spc="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8.</a:t>
                      </a:r>
                      <a:r>
                        <a:rPr dirty="0" sz="1900" spc="-2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9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00</a:t>
                      </a:r>
                      <a:r>
                        <a:rPr dirty="0" sz="1900" spc="2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9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GB)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B="0" marT="6985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5760">
                        <a:lnSpc>
                          <a:spcPts val="2145"/>
                        </a:lnSpc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2345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ts val="214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0.</a:t>
                      </a:r>
                      <a:r>
                        <a:rPr dirty="0" sz="1800" spc="4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ts val="214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2.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7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solidFill>
                      <a:srgbClr val="002891"/>
                    </a:solidFill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ts val="2145"/>
                        </a:lnSpc>
                      </a:pPr>
                      <a:r>
                        <a:rPr dirty="0" sz="1800" spc="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800" spc="75">
                          <a:solidFill>
                            <a:srgbClr val="D4D4D4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1800" spc="5">
                          <a:solidFill>
                            <a:srgbClr val="D4D4D4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</a:t>
                      </a:r>
                      <a:r>
                        <a:rPr dirty="0" sz="1800" spc="-10">
                          <a:solidFill>
                            <a:srgbClr val="EDEDED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solidFill>
                      <a:srgbClr val="002891"/>
                    </a:solidFill>
                  </a:tcPr>
                </a:tc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12290697" y="3249728"/>
            <a:ext cx="4589145" cy="90805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1209675" algn="l"/>
                <a:tab pos="2066289" algn="l"/>
              </a:tabLst>
            </a:pPr>
            <a:r>
              <a:rPr dirty="0" sz="1650" spc="-290">
                <a:solidFill>
                  <a:srgbClr val="FFFFFF"/>
                </a:solidFill>
                <a:latin typeface="Cambria"/>
                <a:cs typeface="Cambria"/>
              </a:rPr>
              <a:t>How</a:t>
            </a:r>
            <a:r>
              <a:rPr dirty="0" sz="1650" spc="-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DDDDDD"/>
                </a:solidFill>
                <a:latin typeface="Cambria"/>
                <a:cs typeface="Cambria"/>
              </a:rPr>
              <a:t>i</a:t>
            </a:r>
            <a:r>
              <a:rPr dirty="0" sz="1650" spc="-15">
                <a:solidFill>
                  <a:srgbClr val="DDDDDD"/>
                </a:solidFill>
                <a:latin typeface="Cambria"/>
                <a:cs typeface="Cambria"/>
              </a:rPr>
              <a:t> </a:t>
            </a:r>
            <a:r>
              <a:rPr dirty="0" sz="1650" spc="95">
                <a:solidFill>
                  <a:srgbClr val="FFFFFF"/>
                </a:solidFill>
                <a:latin typeface="Cambria"/>
                <a:cs typeface="Cambria"/>
              </a:rPr>
              <a:t>tor</a:t>
            </a:r>
            <a:r>
              <a:rPr dirty="0" sz="1650" spc="95">
                <a:solidFill>
                  <a:srgbClr val="E6E6E6"/>
                </a:solidFill>
                <a:latin typeface="Cambria"/>
                <a:cs typeface="Cambria"/>
              </a:rPr>
              <a:t>my</a:t>
            </a:r>
            <a:r>
              <a:rPr dirty="0" sz="1650">
                <a:solidFill>
                  <a:srgbClr val="E6E6E6"/>
                </a:solidFill>
                <a:latin typeface="Cambria"/>
                <a:cs typeface="Cambria"/>
              </a:rPr>
              <a:t>	</a:t>
            </a:r>
            <a:r>
              <a:rPr dirty="0" sz="1650" spc="-10">
                <a:solidFill>
                  <a:srgbClr val="FFFFFF"/>
                </a:solidFill>
                <a:latin typeface="Cambria"/>
                <a:cs typeface="Cambria"/>
              </a:rPr>
              <a:t>process</a:t>
            </a:r>
            <a:r>
              <a:rPr dirty="0" sz="165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650" spc="-140">
                <a:solidFill>
                  <a:srgbClr val="D6D6D6"/>
                </a:solidFill>
                <a:latin typeface="Cambria"/>
                <a:cs typeface="Cambria"/>
              </a:rPr>
              <a:t>3d</a:t>
            </a:r>
            <a:r>
              <a:rPr dirty="0" sz="1650" spc="-85">
                <a:solidFill>
                  <a:srgbClr val="D6D6D6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001300"/>
                </a:solidFill>
                <a:latin typeface="Cambria"/>
                <a:cs typeface="Cambria"/>
              </a:rPr>
              <a:t>o',</a:t>
            </a:r>
            <a:r>
              <a:rPr dirty="0" sz="1650" spc="110">
                <a:solidFill>
                  <a:srgbClr val="001300"/>
                </a:solidFill>
                <a:latin typeface="Cambria"/>
                <a:cs typeface="Cambria"/>
              </a:rPr>
              <a:t>  </a:t>
            </a:r>
            <a:r>
              <a:rPr dirty="0" sz="1650" spc="5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650" spc="16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65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65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650">
                <a:solidFill>
                  <a:srgbClr val="FFFFFF"/>
                </a:solidFill>
                <a:latin typeface="Cambria"/>
                <a:cs typeface="Cambria"/>
              </a:rPr>
              <a:t>seconds</a:t>
            </a:r>
            <a:r>
              <a:rPr dirty="0" sz="165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65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65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650">
              <a:latin typeface="Cambria"/>
              <a:cs typeface="Cambria"/>
            </a:endParaRPr>
          </a:p>
          <a:p>
            <a:pPr marL="32384">
              <a:lnSpc>
                <a:spcPct val="100000"/>
              </a:lnSpc>
              <a:spcBef>
                <a:spcPts val="195"/>
              </a:spcBef>
              <a:tabLst>
                <a:tab pos="1290955" algn="l"/>
                <a:tab pos="2174875" algn="l"/>
                <a:tab pos="3089275" algn="l"/>
              </a:tabLst>
            </a:pP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[I</a:t>
            </a:r>
            <a:r>
              <a:rPr dirty="0" sz="18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6:</a:t>
            </a:r>
            <a:r>
              <a:rPr dirty="0" sz="1800" spc="-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2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dirty="0" sz="1800" spc="-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-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20">
                <a:solidFill>
                  <a:srgbClr val="FFFFFF"/>
                </a:solidFill>
                <a:latin typeface="Cambria"/>
                <a:cs typeface="Cambria"/>
              </a:rPr>
              <a:t>08</a:t>
            </a:r>
            <a:r>
              <a:rPr dirty="0" sz="1800" spc="-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mbria"/>
                <a:cs typeface="Cambria"/>
              </a:rPr>
              <a:t>]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Process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3456</a:t>
            </a:r>
            <a:r>
              <a:rPr dirty="0" sz="18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125">
                <a:solidFill>
                  <a:srgbClr val="FFFFFF"/>
                </a:solidFill>
                <a:latin typeface="Cambria"/>
                <a:cs typeface="Cambria"/>
              </a:rPr>
              <a:t>runn</a:t>
            </a:r>
            <a:r>
              <a:rPr dirty="0" sz="1800" spc="-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800" spc="-2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60">
                <a:solidFill>
                  <a:srgbClr val="CFCFCF"/>
                </a:solidFill>
                <a:latin typeface="Cambria"/>
                <a:cs typeface="Cambria"/>
              </a:rPr>
              <a:t>g</a:t>
            </a:r>
            <a:r>
              <a:rPr dirty="0" sz="1800" spc="-45">
                <a:solidFill>
                  <a:srgbClr val="CFCFC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8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8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marL="42545">
              <a:lnSpc>
                <a:spcPct val="100000"/>
              </a:lnSpc>
              <a:spcBef>
                <a:spcPts val="250"/>
              </a:spcBef>
            </a:pPr>
            <a:r>
              <a:rPr dirty="0" sz="1800" spc="-250">
                <a:solidFill>
                  <a:srgbClr val="FFFFFF"/>
                </a:solidFill>
                <a:latin typeface="Arial Black"/>
                <a:cs typeface="Arial Black"/>
              </a:rPr>
              <a:t>[J6</a:t>
            </a:r>
            <a:r>
              <a:rPr dirty="0" sz="1800" spc="-25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4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1800" spc="-2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75">
                <a:solidFill>
                  <a:srgbClr val="FFFFFF"/>
                </a:solidFill>
                <a:latin typeface="Arial Black"/>
                <a:cs typeface="Arial Black"/>
              </a:rPr>
              <a:t>12</a:t>
            </a:r>
            <a:r>
              <a:rPr dirty="0" sz="1800" spc="-1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4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1800" spc="-1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15">
                <a:solidFill>
                  <a:srgbClr val="E2E2E2"/>
                </a:solidFill>
                <a:latin typeface="Arial Black"/>
                <a:cs typeface="Arial Black"/>
              </a:rPr>
              <a:t>T0]</a:t>
            </a:r>
            <a:r>
              <a:rPr dirty="0" sz="1800" spc="20">
                <a:solidFill>
                  <a:srgbClr val="E2E2E2"/>
                </a:solidFill>
                <a:latin typeface="Arial Black"/>
                <a:cs typeface="Arial Black"/>
              </a:rPr>
              <a:t>  </a:t>
            </a:r>
            <a:r>
              <a:rPr dirty="0" sz="1800" spc="-310">
                <a:solidFill>
                  <a:srgbClr val="FFFFFF"/>
                </a:solidFill>
                <a:latin typeface="Arial Black"/>
                <a:cs typeface="Arial Black"/>
              </a:rPr>
              <a:t>Process</a:t>
            </a:r>
            <a:r>
              <a:rPr dirty="0" sz="1800" spc="2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dirty="0" sz="1800" spc="-355">
                <a:solidFill>
                  <a:srgbClr val="F4F4F4"/>
                </a:solidFill>
                <a:latin typeface="Arial Black"/>
                <a:cs typeface="Arial Black"/>
              </a:rPr>
              <a:t>3456</a:t>
            </a:r>
            <a:r>
              <a:rPr dirty="0" sz="1800" spc="385">
                <a:solidFill>
                  <a:srgbClr val="F4F4F4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F2F2F2"/>
                </a:solidFill>
                <a:latin typeface="Arial Black"/>
                <a:cs typeface="Arial Black"/>
              </a:rPr>
              <a:t>is</a:t>
            </a:r>
            <a:r>
              <a:rPr dirty="0" sz="1800" spc="380">
                <a:solidFill>
                  <a:srgbClr val="F2F2F2"/>
                </a:solidFill>
                <a:latin typeface="Arial Black"/>
                <a:cs typeface="Arial Black"/>
              </a:rPr>
              <a:t> </a:t>
            </a:r>
            <a:r>
              <a:rPr dirty="0" sz="1800" spc="-330">
                <a:solidFill>
                  <a:srgbClr val="FFFFFF"/>
                </a:solidFill>
                <a:latin typeface="Arial Black"/>
                <a:cs typeface="Arial Black"/>
              </a:rPr>
              <a:t>runn</a:t>
            </a:r>
            <a:r>
              <a:rPr dirty="0" sz="1800" spc="-330">
                <a:solidFill>
                  <a:srgbClr val="EDEDED"/>
                </a:solidFill>
                <a:latin typeface="Arial Black"/>
                <a:cs typeface="Arial Black"/>
              </a:rPr>
              <a:t>Eng</a:t>
            </a:r>
            <a:r>
              <a:rPr dirty="0" sz="1800" spc="-215">
                <a:solidFill>
                  <a:srgbClr val="EDEDED"/>
                </a:solidFill>
                <a:latin typeface="Arial Black"/>
                <a:cs typeface="Arial Black"/>
              </a:rPr>
              <a:t> </a:t>
            </a:r>
            <a:r>
              <a:rPr dirty="0" sz="1800" spc="-21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r>
              <a:rPr dirty="0" sz="180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21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r>
              <a:rPr dirty="0" sz="180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7450" y="3996909"/>
            <a:ext cx="1207135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06425" algn="l"/>
              </a:tabLst>
            </a:pPr>
            <a:r>
              <a:rPr dirty="0" sz="1900" spc="-20">
                <a:solidFill>
                  <a:srgbClr val="FFFFFF"/>
                </a:solidFill>
                <a:latin typeface="Cambria"/>
                <a:cs typeface="Cambria"/>
              </a:rPr>
              <a:t>Disk</a:t>
            </a:r>
            <a:r>
              <a:rPr dirty="0" sz="19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900" spc="-35">
                <a:solidFill>
                  <a:srgbClr val="FFFFFF"/>
                </a:solidFill>
                <a:latin typeface="Cambria"/>
                <a:cs typeface="Cambria"/>
              </a:rPr>
              <a:t>Usage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40623" y="3996909"/>
            <a:ext cx="3640454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13995" algn="l"/>
                <a:tab pos="3068955" algn="l"/>
              </a:tabLst>
            </a:pPr>
            <a:r>
              <a:rPr dirty="0" sz="1900" spc="-5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9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900" spc="-45">
                <a:solidFill>
                  <a:srgbClr val="FFFFFF"/>
                </a:solidFill>
                <a:latin typeface="Cambria"/>
                <a:cs typeface="Cambria"/>
              </a:rPr>
              <a:t>62.</a:t>
            </a:r>
            <a:r>
              <a:rPr dirty="0" sz="1900" spc="-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9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9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900">
                <a:solidFill>
                  <a:srgbClr val="EDEDED"/>
                </a:solidFill>
                <a:latin typeface="Cambria"/>
                <a:cs typeface="Cambria"/>
              </a:rPr>
              <a:t>8</a:t>
            </a:r>
            <a:r>
              <a:rPr dirty="0" sz="1900" spc="409">
                <a:solidFill>
                  <a:srgbClr val="EDEDED"/>
                </a:solidFill>
                <a:latin typeface="Cambria"/>
                <a:cs typeface="Cambria"/>
              </a:rPr>
              <a:t> </a:t>
            </a:r>
            <a:r>
              <a:rPr dirty="0" sz="1900">
                <a:solidFill>
                  <a:srgbClr val="FFFFFF"/>
                </a:solidFill>
                <a:latin typeface="Cambria"/>
                <a:cs typeface="Cambria"/>
              </a:rPr>
              <a:t>(124.18</a:t>
            </a:r>
            <a:r>
              <a:rPr dirty="0" sz="1900" spc="3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900" spc="-80">
                <a:solidFill>
                  <a:srgbClr val="DDDDDD"/>
                </a:solidFill>
                <a:latin typeface="Cambria"/>
                <a:cs typeface="Cambria"/>
              </a:rPr>
              <a:t>GB</a:t>
            </a:r>
            <a:r>
              <a:rPr dirty="0" sz="1900" spc="400">
                <a:solidFill>
                  <a:srgbClr val="DDDDDD"/>
                </a:solidFill>
                <a:latin typeface="Cambria"/>
                <a:cs typeface="Cambria"/>
              </a:rPr>
              <a:t> </a:t>
            </a:r>
            <a:r>
              <a:rPr dirty="0" sz="1900" spc="-275">
                <a:solidFill>
                  <a:srgbClr val="F0F0F0"/>
                </a:solidFill>
                <a:latin typeface="Cambria"/>
                <a:cs typeface="Cambria"/>
              </a:rPr>
              <a:t>/</a:t>
            </a:r>
            <a:r>
              <a:rPr dirty="0" sz="1900" spc="445">
                <a:solidFill>
                  <a:srgbClr val="F0F0F0"/>
                </a:solidFill>
                <a:latin typeface="Cambria"/>
                <a:cs typeface="Cambria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Cambria"/>
                <a:cs typeface="Cambria"/>
              </a:rPr>
              <a:t>200.</a:t>
            </a:r>
            <a:r>
              <a:rPr dirty="0" sz="19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900">
                <a:solidFill>
                  <a:srgbClr val="F4F4F4"/>
                </a:solidFill>
                <a:latin typeface="Cambria"/>
                <a:cs typeface="Cambria"/>
              </a:rPr>
              <a:t>0</a:t>
            </a:r>
            <a:r>
              <a:rPr dirty="0" sz="1900" spc="330">
                <a:solidFill>
                  <a:srgbClr val="F4F4F4"/>
                </a:solidFill>
                <a:latin typeface="Cambria"/>
                <a:cs typeface="Cambria"/>
              </a:rPr>
              <a:t> </a:t>
            </a:r>
            <a:r>
              <a:rPr dirty="0" sz="1900" spc="-140">
                <a:solidFill>
                  <a:srgbClr val="FFFFFF"/>
                </a:solidFill>
                <a:latin typeface="Cambria"/>
                <a:cs typeface="Cambria"/>
              </a:rPr>
              <a:t>GB)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31558" y="3856007"/>
            <a:ext cx="489584" cy="116268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350"/>
              </a:spcBef>
            </a:pPr>
            <a:r>
              <a:rPr dirty="0" sz="1650" spc="-270">
                <a:solidFill>
                  <a:srgbClr val="FFFFFF"/>
                </a:solidFill>
                <a:latin typeface="Arial Black"/>
                <a:cs typeface="Arial Black"/>
              </a:rPr>
              <a:t>34</a:t>
            </a:r>
            <a:r>
              <a:rPr dirty="0" sz="165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650" spc="-295">
                <a:solidFill>
                  <a:srgbClr val="FFFFFF"/>
                </a:solidFill>
                <a:latin typeface="Arial Black"/>
                <a:cs typeface="Arial Black"/>
              </a:rPr>
              <a:t>56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650" spc="-180">
                <a:solidFill>
                  <a:srgbClr val="FFFFFF"/>
                </a:solidFill>
                <a:latin typeface="Arial Black"/>
                <a:cs typeface="Arial Black"/>
              </a:rPr>
              <a:t>4567</a:t>
            </a:r>
            <a:endParaRPr sz="1650">
              <a:latin typeface="Arial Black"/>
              <a:cs typeface="Arial Black"/>
            </a:endParaRPr>
          </a:p>
          <a:p>
            <a:pPr marL="20955">
              <a:lnSpc>
                <a:spcPct val="100000"/>
              </a:lnSpc>
              <a:spcBef>
                <a:spcPts val="259"/>
              </a:spcBef>
            </a:pPr>
            <a:r>
              <a:rPr dirty="0" sz="1650" spc="-190">
                <a:solidFill>
                  <a:srgbClr val="FFFFFF"/>
                </a:solidFill>
                <a:latin typeface="Arial Black"/>
                <a:cs typeface="Arial Black"/>
              </a:rPr>
              <a:t>5678</a:t>
            </a:r>
            <a:endParaRPr sz="165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254"/>
              </a:spcBef>
            </a:pPr>
            <a:r>
              <a:rPr dirty="0" sz="1650" spc="-25">
                <a:solidFill>
                  <a:srgbClr val="034200"/>
                </a:solidFill>
                <a:latin typeface="Arial Black"/>
                <a:cs typeface="Arial Black"/>
              </a:rPr>
              <a:t>snt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52231" y="3856007"/>
            <a:ext cx="662305" cy="116268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350"/>
              </a:spcBef>
            </a:pPr>
            <a:r>
              <a:rPr dirty="0" sz="1650" spc="-110">
                <a:solidFill>
                  <a:srgbClr val="FFFFFF"/>
                </a:solidFill>
                <a:latin typeface="Arial Black"/>
                <a:cs typeface="Arial Black"/>
              </a:rPr>
              <a:t>1.</a:t>
            </a:r>
            <a:r>
              <a:rPr dirty="0" sz="1650" spc="-2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650" spc="-395">
                <a:solidFill>
                  <a:srgbClr val="FFFFFF"/>
                </a:solidFill>
                <a:latin typeface="Arial Black"/>
                <a:cs typeface="Arial Black"/>
              </a:rPr>
              <a:t>8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650" spc="-80">
                <a:solidFill>
                  <a:srgbClr val="FFFFFF"/>
                </a:solidFill>
                <a:latin typeface="Arial Black"/>
                <a:cs typeface="Arial Black"/>
              </a:rPr>
              <a:t>0.</a:t>
            </a:r>
            <a:r>
              <a:rPr dirty="0" sz="1650" spc="-2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650" spc="-39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endParaRPr sz="1650">
              <a:latin typeface="Arial Black"/>
              <a:cs typeface="Arial Black"/>
            </a:endParaRPr>
          </a:p>
          <a:p>
            <a:pPr marL="13335">
              <a:lnSpc>
                <a:spcPct val="100000"/>
              </a:lnSpc>
              <a:spcBef>
                <a:spcPts val="259"/>
              </a:spcBef>
            </a:pPr>
            <a:r>
              <a:rPr dirty="0" sz="1650" spc="-25">
                <a:solidFill>
                  <a:srgbClr val="FFFFFF"/>
                </a:solidFill>
                <a:latin typeface="Arial Black"/>
                <a:cs typeface="Arial Black"/>
              </a:rPr>
              <a:t>3.2</a:t>
            </a:r>
            <a:endParaRPr sz="1650">
              <a:latin typeface="Arial Black"/>
              <a:cs typeface="Arial Black"/>
            </a:endParaRPr>
          </a:p>
          <a:p>
            <a:pPr marL="159385">
              <a:lnSpc>
                <a:spcPct val="100000"/>
              </a:lnSpc>
              <a:spcBef>
                <a:spcPts val="254"/>
              </a:spcBef>
            </a:pPr>
            <a:r>
              <a:rPr dirty="0" sz="1650" spc="-375">
                <a:solidFill>
                  <a:srgbClr val="034200"/>
                </a:solidFill>
                <a:latin typeface="Arial Black"/>
                <a:cs typeface="Arial Black"/>
              </a:rPr>
              <a:t>z</a:t>
            </a:r>
            <a:r>
              <a:rPr dirty="0" sz="1650" spc="-375">
                <a:solidFill>
                  <a:srgbClr val="001F00"/>
                </a:solidFill>
                <a:latin typeface="Arial Black"/>
                <a:cs typeface="Arial Black"/>
              </a:rPr>
              <a:t>iJu</a:t>
            </a:r>
            <a:r>
              <a:rPr dirty="0" sz="1650" spc="-235">
                <a:solidFill>
                  <a:srgbClr val="001F00"/>
                </a:solidFill>
                <a:latin typeface="Arial Black"/>
                <a:cs typeface="Arial Black"/>
              </a:rPr>
              <a:t> </a:t>
            </a:r>
            <a:r>
              <a:rPr dirty="0" sz="1650" spc="-520">
                <a:solidFill>
                  <a:srgbClr val="002100"/>
                </a:solidFill>
                <a:latin typeface="Arial Black"/>
                <a:cs typeface="Arial Black"/>
              </a:rPr>
              <a:t>x</a:t>
            </a:r>
            <a:r>
              <a:rPr dirty="0" sz="1650" spc="-200">
                <a:solidFill>
                  <a:srgbClr val="002100"/>
                </a:solidFill>
                <a:latin typeface="Arial Black"/>
                <a:cs typeface="Arial Black"/>
              </a:rPr>
              <a:t> </a:t>
            </a:r>
            <a:r>
              <a:rPr dirty="0" sz="1650" spc="-6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969447" y="3856007"/>
            <a:ext cx="358140" cy="87820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650" spc="-80">
                <a:solidFill>
                  <a:srgbClr val="FFFFFF"/>
                </a:solidFill>
                <a:latin typeface="Arial Black"/>
                <a:cs typeface="Arial Black"/>
              </a:rPr>
              <a:t>0.</a:t>
            </a:r>
            <a:r>
              <a:rPr dirty="0" sz="1650" spc="-229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650" spc="-395">
                <a:solidFill>
                  <a:srgbClr val="FFFFFF"/>
                </a:solidFill>
                <a:latin typeface="Arial Black"/>
                <a:cs typeface="Arial Black"/>
              </a:rPr>
              <a:t>9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650" spc="-80">
                <a:solidFill>
                  <a:srgbClr val="FFFFFF"/>
                </a:solidFill>
                <a:latin typeface="Arial Black"/>
                <a:cs typeface="Arial Black"/>
              </a:rPr>
              <a:t>0.</a:t>
            </a:r>
            <a:r>
              <a:rPr dirty="0" sz="1650" spc="-20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650" spc="-450">
                <a:solidFill>
                  <a:srgbClr val="EBEBEB"/>
                </a:solidFill>
                <a:latin typeface="Arial Black"/>
                <a:cs typeface="Arial Black"/>
              </a:rPr>
              <a:t>4</a:t>
            </a:r>
            <a:endParaRPr sz="1650">
              <a:latin typeface="Arial Black"/>
              <a:cs typeface="Arial Black"/>
            </a:endParaRPr>
          </a:p>
          <a:p>
            <a:pPr marL="16510">
              <a:lnSpc>
                <a:spcPct val="100000"/>
              </a:lnSpc>
              <a:spcBef>
                <a:spcPts val="259"/>
              </a:spcBef>
            </a:pPr>
            <a:r>
              <a:rPr dirty="0" sz="1650" spc="-475">
                <a:solidFill>
                  <a:srgbClr val="F6F6F6"/>
                </a:solidFill>
                <a:latin typeface="Arial Black"/>
                <a:cs typeface="Arial Black"/>
              </a:rPr>
              <a:t>T</a:t>
            </a:r>
            <a:r>
              <a:rPr dirty="0" sz="1650" spc="-210">
                <a:solidFill>
                  <a:srgbClr val="F6F6F6"/>
                </a:solidFill>
                <a:latin typeface="Arial Black"/>
                <a:cs typeface="Arial Black"/>
              </a:rPr>
              <a:t> </a:t>
            </a:r>
            <a:r>
              <a:rPr dirty="0" sz="1650" spc="-165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r>
              <a:rPr dirty="0" sz="1650" spc="-1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650" spc="-380">
                <a:solidFill>
                  <a:srgbClr val="DBDBDB"/>
                </a:solidFill>
                <a:latin typeface="Arial Black"/>
                <a:cs typeface="Arial Black"/>
              </a:rPr>
              <a:t>J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004281" y="3856007"/>
            <a:ext cx="850265" cy="1162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320" marR="375920" indent="-2540">
              <a:lnSpc>
                <a:spcPct val="112999"/>
              </a:lnSpc>
              <a:spcBef>
                <a:spcPts val="95"/>
              </a:spcBef>
            </a:pPr>
            <a:r>
              <a:rPr dirty="0" sz="1650" spc="-235">
                <a:solidFill>
                  <a:srgbClr val="FFFFFF"/>
                </a:solidFill>
                <a:latin typeface="Arial Black"/>
                <a:cs typeface="Arial Black"/>
              </a:rPr>
              <a:t>code </a:t>
            </a:r>
            <a:r>
              <a:rPr dirty="0" sz="1650" spc="-195">
                <a:solidFill>
                  <a:srgbClr val="FFFFFF"/>
                </a:solidFill>
                <a:latin typeface="Arial Black"/>
                <a:cs typeface="Arial Black"/>
              </a:rPr>
              <a:t>sshd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650" spc="-110">
                <a:solidFill>
                  <a:srgbClr val="FFFFFF"/>
                </a:solidFill>
                <a:latin typeface="Arial Black"/>
                <a:cs typeface="Arial Black"/>
              </a:rPr>
              <a:t>pyth</a:t>
            </a:r>
            <a:r>
              <a:rPr dirty="0" sz="1650" spc="-3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650" spc="-160">
                <a:solidFill>
                  <a:srgbClr val="F2F2F2"/>
                </a:solidFill>
                <a:latin typeface="Arial Black"/>
                <a:cs typeface="Arial Black"/>
              </a:rPr>
              <a:t>on</a:t>
            </a:r>
            <a:r>
              <a:rPr dirty="0" sz="1650" spc="-160">
                <a:solidFill>
                  <a:srgbClr val="EFEFEF"/>
                </a:solidFill>
                <a:latin typeface="Arial Black"/>
                <a:cs typeface="Arial Black"/>
              </a:rPr>
              <a:t>3</a:t>
            </a:r>
            <a:endParaRPr sz="1650">
              <a:latin typeface="Arial Black"/>
              <a:cs typeface="Arial Black"/>
            </a:endParaRPr>
          </a:p>
          <a:p>
            <a:pPr marL="238760">
              <a:lnSpc>
                <a:spcPct val="100000"/>
              </a:lnSpc>
              <a:spcBef>
                <a:spcPts val="260"/>
              </a:spcBef>
            </a:pPr>
            <a:r>
              <a:rPr dirty="0" sz="1650" spc="-415">
                <a:solidFill>
                  <a:srgbClr val="FFFFFF"/>
                </a:solidFill>
                <a:latin typeface="Arial Black"/>
                <a:cs typeface="Arial Black"/>
              </a:rPr>
              <a:t>$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313975" y="4154208"/>
            <a:ext cx="4027804" cy="58293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 indent="6985">
              <a:lnSpc>
                <a:spcPct val="103600"/>
              </a:lnSpc>
              <a:spcBef>
                <a:spcPts val="15"/>
              </a:spcBef>
            </a:pPr>
            <a:r>
              <a:rPr dirty="0" sz="1800" spc="-100">
                <a:solidFill>
                  <a:srgbClr val="FFFFFF"/>
                </a:solidFill>
                <a:latin typeface="Arial Black"/>
                <a:cs typeface="Arial Black"/>
              </a:rPr>
              <a:t>[t6</a:t>
            </a:r>
            <a:r>
              <a:rPr dirty="0" sz="1800" spc="-2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4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18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75">
                <a:solidFill>
                  <a:srgbClr val="FFFFFF"/>
                </a:solidFill>
                <a:latin typeface="Arial Black"/>
                <a:cs typeface="Arial Black"/>
              </a:rPr>
              <a:t>12</a:t>
            </a:r>
            <a:r>
              <a:rPr dirty="0" sz="1800" spc="-1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4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180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FFFFFF"/>
                </a:solidFill>
                <a:latin typeface="Arial Black"/>
                <a:cs typeface="Arial Black"/>
              </a:rPr>
              <a:t>t2]</a:t>
            </a:r>
            <a:r>
              <a:rPr dirty="0" sz="1800" spc="43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10">
                <a:solidFill>
                  <a:srgbClr val="FFFFFF"/>
                </a:solidFill>
                <a:latin typeface="Arial Black"/>
                <a:cs typeface="Arial Black"/>
              </a:rPr>
              <a:t>Process</a:t>
            </a:r>
            <a:r>
              <a:rPr dirty="0" sz="1800" spc="-2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dirty="0" sz="1800" spc="-355">
                <a:solidFill>
                  <a:srgbClr val="FFFFFF"/>
                </a:solidFill>
                <a:latin typeface="Arial Black"/>
                <a:cs typeface="Arial Black"/>
              </a:rPr>
              <a:t>3456</a:t>
            </a:r>
            <a:r>
              <a:rPr dirty="0" sz="1800" spc="3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55">
                <a:solidFill>
                  <a:srgbClr val="FFFFFF"/>
                </a:solidFill>
                <a:latin typeface="Arial Black"/>
                <a:cs typeface="Arial Black"/>
              </a:rPr>
              <a:t>has</a:t>
            </a:r>
            <a:r>
              <a:rPr dirty="0" sz="1800" spc="459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00">
                <a:solidFill>
                  <a:srgbClr val="FFFFFF"/>
                </a:solidFill>
                <a:latin typeface="Arial Black"/>
                <a:cs typeface="Arial Black"/>
              </a:rPr>
              <a:t>stopped</a:t>
            </a:r>
            <a:r>
              <a:rPr dirty="0" sz="1800" spc="-1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390">
                <a:solidFill>
                  <a:srgbClr val="FFFFFF"/>
                </a:solidFill>
                <a:latin typeface="Arial Black"/>
                <a:cs typeface="Arial Black"/>
              </a:rPr>
              <a:t>! </a:t>
            </a:r>
            <a:r>
              <a:rPr dirty="0" sz="1800" spc="-90">
                <a:solidFill>
                  <a:srgbClr val="FFFFFF"/>
                </a:solidFill>
                <a:latin typeface="Arial Black"/>
                <a:cs typeface="Arial Black"/>
              </a:rPr>
              <a:t>Alert</a:t>
            </a:r>
            <a:r>
              <a:rPr dirty="0" sz="1800" spc="2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270">
                <a:solidFill>
                  <a:srgbClr val="FFFFFF"/>
                </a:solidFill>
                <a:latin typeface="Arial Black"/>
                <a:cs typeface="Arial Black"/>
              </a:rPr>
              <a:t>logged</a:t>
            </a:r>
            <a:r>
              <a:rPr dirty="0" sz="1800" spc="3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1800" spc="1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200">
                <a:solidFill>
                  <a:srgbClr val="FFFFFF"/>
                </a:solidFill>
                <a:latin typeface="Arial Black"/>
                <a:cs typeface="Arial Black"/>
              </a:rPr>
              <a:t>logs/process</a:t>
            </a:r>
            <a:r>
              <a:rPr dirty="0" sz="18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 Black"/>
                <a:cs typeface="Arial Black"/>
              </a:rPr>
              <a:t>.log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0" y="5323876"/>
            <a:ext cx="18277205" cy="317500"/>
          </a:xfrm>
          <a:custGeom>
            <a:avLst/>
            <a:gdLst/>
            <a:ahLst/>
            <a:cxnLst/>
            <a:rect l="l" t="t" r="r" b="b"/>
            <a:pathLst>
              <a:path w="18277205" h="317500">
                <a:moveTo>
                  <a:pt x="18277058" y="317027"/>
                </a:moveTo>
                <a:lnTo>
                  <a:pt x="0" y="317027"/>
                </a:lnTo>
                <a:lnTo>
                  <a:pt x="0" y="0"/>
                </a:lnTo>
                <a:lnTo>
                  <a:pt x="18277058" y="0"/>
                </a:lnTo>
                <a:lnTo>
                  <a:pt x="18277058" y="317027"/>
                </a:lnTo>
                <a:close/>
              </a:path>
            </a:pathLst>
          </a:custGeom>
          <a:solidFill>
            <a:srgbClr val="002A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660119" y="5260768"/>
            <a:ext cx="34296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1A3FAC"/>
                </a:solidFill>
                <a:latin typeface="Arial MT"/>
                <a:cs typeface="Arial MT"/>
              </a:rPr>
              <a:t>System</a:t>
            </a:r>
            <a:r>
              <a:rPr dirty="0" sz="2000" spc="-65">
                <a:solidFill>
                  <a:srgbClr val="1A3FA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9F9F9"/>
                </a:solidFill>
                <a:latin typeface="Arial MT"/>
                <a:cs typeface="Arial MT"/>
              </a:rPr>
              <a:t>Resource</a:t>
            </a:r>
            <a:r>
              <a:rPr dirty="0" sz="2000" spc="235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Arial MT"/>
                <a:cs typeface="Arial MT"/>
              </a:rPr>
              <a:t>Monitoring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027360" y="5267448"/>
            <a:ext cx="229997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85">
                <a:solidFill>
                  <a:srgbClr val="F9F9F9"/>
                </a:solidFill>
                <a:latin typeface="Arial MT"/>
                <a:cs typeface="Arial MT"/>
              </a:rPr>
              <a:t>Process</a:t>
            </a:r>
            <a:r>
              <a:rPr dirty="0" sz="2150" spc="-3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FFFFFF"/>
                </a:solidFill>
                <a:latin typeface="Arial MT"/>
                <a:cs typeface="Arial MT"/>
              </a:rPr>
              <a:t>Monitoring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802512" y="5267448"/>
            <a:ext cx="22339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65">
                <a:solidFill>
                  <a:srgbClr val="E2FFFF"/>
                </a:solidFill>
                <a:latin typeface="Arial MT"/>
                <a:cs typeface="Arial MT"/>
              </a:rPr>
              <a:t>Process</a:t>
            </a:r>
            <a:r>
              <a:rPr dirty="0" sz="2150" spc="-30">
                <a:solidFill>
                  <a:srgbClr val="E2FFFF"/>
                </a:solidFill>
                <a:latin typeface="Arial MT"/>
                <a:cs typeface="Arial MT"/>
              </a:rPr>
              <a:t> </a:t>
            </a:r>
            <a:r>
              <a:rPr dirty="0" sz="2150" spc="-25">
                <a:solidFill>
                  <a:srgbClr val="334B8A"/>
                </a:solidFill>
                <a:latin typeface="Arial MT"/>
                <a:cs typeface="Arial MT"/>
              </a:rPr>
              <a:t>Watchdog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0" y="6132843"/>
            <a:ext cx="18277205" cy="229870"/>
            <a:chOff x="0" y="6132843"/>
            <a:chExt cx="18277205" cy="229870"/>
          </a:xfrm>
        </p:grpSpPr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04717" y="6154708"/>
              <a:ext cx="798459" cy="18584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14325" y="6154708"/>
              <a:ext cx="798459" cy="18584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0" y="6132843"/>
              <a:ext cx="18277205" cy="229870"/>
            </a:xfrm>
            <a:custGeom>
              <a:avLst/>
              <a:gdLst/>
              <a:ahLst/>
              <a:cxnLst/>
              <a:rect l="l" t="t" r="r" b="b"/>
              <a:pathLst>
                <a:path w="18277205" h="229870">
                  <a:moveTo>
                    <a:pt x="18277058" y="229571"/>
                  </a:moveTo>
                  <a:lnTo>
                    <a:pt x="0" y="229571"/>
                  </a:lnTo>
                  <a:lnTo>
                    <a:pt x="0" y="0"/>
                  </a:lnTo>
                  <a:lnTo>
                    <a:pt x="18277058" y="0"/>
                  </a:lnTo>
                  <a:lnTo>
                    <a:pt x="18277058" y="229571"/>
                  </a:lnTo>
                  <a:close/>
                </a:path>
              </a:pathLst>
            </a:custGeom>
            <a:solidFill>
              <a:srgbClr val="002A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3317252" y="6086740"/>
            <a:ext cx="3137535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smitagsmita-Linux:</a:t>
            </a:r>
            <a:r>
              <a:rPr dirty="0" sz="1550" spc="45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1550" spc="45">
                <a:solidFill>
                  <a:srgbClr val="FFFFFF"/>
                </a:solidFill>
                <a:latin typeface="Arial MT"/>
                <a:cs typeface="Arial MT"/>
              </a:rPr>
              <a:t>/linux-monitor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826859" y="6086740"/>
            <a:ext cx="3102610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smitagsmita-Linux:</a:t>
            </a:r>
            <a:r>
              <a:rPr dirty="0" sz="1550" spc="4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-/tinux-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monitor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4233728" y="9048040"/>
            <a:ext cx="838835" cy="0"/>
          </a:xfrm>
          <a:custGeom>
            <a:avLst/>
            <a:gdLst/>
            <a:ahLst/>
            <a:cxnLst/>
            <a:rect l="l" t="t" r="r" b="b"/>
            <a:pathLst>
              <a:path w="838834" h="0">
                <a:moveTo>
                  <a:pt x="0" y="0"/>
                </a:moveTo>
                <a:lnTo>
                  <a:pt x="838564" y="0"/>
                </a:lnTo>
              </a:path>
            </a:pathLst>
          </a:custGeom>
          <a:ln w="29151">
            <a:solidFill>
              <a:srgbClr val="081C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43903" y="9048040"/>
            <a:ext cx="897255" cy="0"/>
          </a:xfrm>
          <a:custGeom>
            <a:avLst/>
            <a:gdLst/>
            <a:ahLst/>
            <a:cxnLst/>
            <a:rect l="l" t="t" r="r" b="b"/>
            <a:pathLst>
              <a:path w="897254" h="0">
                <a:moveTo>
                  <a:pt x="0" y="0"/>
                </a:moveTo>
                <a:lnTo>
                  <a:pt x="896899" y="0"/>
                </a:lnTo>
              </a:path>
            </a:pathLst>
          </a:custGeom>
          <a:ln w="29151">
            <a:solidFill>
              <a:srgbClr val="081C4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5" name="object 55"/>
          <p:cNvGrpSpPr/>
          <p:nvPr/>
        </p:nvGrpSpPr>
        <p:grpSpPr>
          <a:xfrm>
            <a:off x="0" y="6570123"/>
            <a:ext cx="18277205" cy="2547620"/>
            <a:chOff x="0" y="6570123"/>
            <a:chExt cx="18277205" cy="2547620"/>
          </a:xfrm>
        </p:grpSpPr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70344" y="6613851"/>
              <a:ext cx="2143808" cy="19677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669014" y="6624783"/>
              <a:ext cx="2045368" cy="20770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0" y="6570123"/>
              <a:ext cx="18277205" cy="2547620"/>
            </a:xfrm>
            <a:custGeom>
              <a:avLst/>
              <a:gdLst/>
              <a:ahLst/>
              <a:cxnLst/>
              <a:rect l="l" t="t" r="r" b="b"/>
              <a:pathLst>
                <a:path w="18277205" h="2547620">
                  <a:moveTo>
                    <a:pt x="18277058" y="2547152"/>
                  </a:moveTo>
                  <a:lnTo>
                    <a:pt x="0" y="2547152"/>
                  </a:lnTo>
                  <a:lnTo>
                    <a:pt x="0" y="0"/>
                  </a:lnTo>
                  <a:lnTo>
                    <a:pt x="18277058" y="0"/>
                  </a:lnTo>
                  <a:lnTo>
                    <a:pt x="18277058" y="2547152"/>
                  </a:lnTo>
                  <a:close/>
                </a:path>
              </a:pathLst>
            </a:custGeom>
            <a:solidFill>
              <a:srgbClr val="032D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1154151" y="7149574"/>
            <a:ext cx="1981835" cy="70358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1297305" algn="l"/>
              </a:tabLst>
            </a:pPr>
            <a:r>
              <a:rPr dirty="0" sz="1800" spc="-35">
                <a:solidFill>
                  <a:srgbClr val="FFFFFF"/>
                </a:solidFill>
                <a:latin typeface="Cambria"/>
                <a:cs typeface="Cambria"/>
              </a:rPr>
              <a:t>[16</a:t>
            </a:r>
            <a:r>
              <a:rPr dirty="0" sz="1800" spc="-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-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Cambria"/>
                <a:cs typeface="Cambria"/>
              </a:rPr>
              <a:t>20</a:t>
            </a:r>
            <a:r>
              <a:rPr dirty="0" sz="1800" spc="-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-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30">
                <a:solidFill>
                  <a:srgbClr val="EBEBEB"/>
                </a:solidFill>
                <a:latin typeface="Cambria"/>
                <a:cs typeface="Cambria"/>
              </a:rPr>
              <a:t>15</a:t>
            </a:r>
            <a:r>
              <a:rPr dirty="0" sz="1800" spc="-110">
                <a:solidFill>
                  <a:srgbClr val="EBEBEB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C8C8C8"/>
                </a:solidFill>
                <a:latin typeface="Cambria"/>
                <a:cs typeface="Cambria"/>
              </a:rPr>
              <a:t>j</a:t>
            </a:r>
            <a:r>
              <a:rPr dirty="0" sz="1800">
                <a:solidFill>
                  <a:srgbClr val="C8C8C8"/>
                </a:solidFill>
                <a:latin typeface="Cambria"/>
                <a:cs typeface="Cambria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add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1294765" algn="l"/>
              </a:tabLst>
            </a:pPr>
            <a:r>
              <a:rPr dirty="0" sz="1800" spc="-95">
                <a:solidFill>
                  <a:srgbClr val="FFFFFF"/>
                </a:solidFill>
                <a:latin typeface="Cambria"/>
                <a:cs typeface="Cambria"/>
              </a:rPr>
              <a:t>[</a:t>
            </a:r>
            <a:r>
              <a:rPr dirty="0" sz="1800" spc="-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dirty="0" sz="1800" spc="-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4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60">
                <a:solidFill>
                  <a:srgbClr val="FFFFFF"/>
                </a:solidFill>
                <a:latin typeface="Cambria"/>
                <a:cs typeface="Cambria"/>
              </a:rPr>
              <a:t>20</a:t>
            </a:r>
            <a:r>
              <a:rPr dirty="0" sz="1800" spc="-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4F4F4"/>
                </a:solidFill>
                <a:latin typeface="Cambria"/>
                <a:cs typeface="Cambria"/>
              </a:rPr>
              <a:t>:</a:t>
            </a:r>
            <a:r>
              <a:rPr dirty="0" sz="1800" spc="-125">
                <a:solidFill>
                  <a:srgbClr val="F4F4F4"/>
                </a:solidFill>
                <a:latin typeface="Cambria"/>
                <a:cs typeface="Cambria"/>
              </a:rPr>
              <a:t> </a:t>
            </a:r>
            <a:r>
              <a:rPr dirty="0" sz="1800" spc="-135">
                <a:solidFill>
                  <a:srgbClr val="FFFFFF"/>
                </a:solidFill>
                <a:latin typeface="Cambria"/>
                <a:cs typeface="Cambria"/>
              </a:rPr>
              <a:t>22</a:t>
            </a:r>
            <a:r>
              <a:rPr dirty="0" sz="1800" spc="-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E6E6E6"/>
                </a:solidFill>
                <a:latin typeface="Cambria"/>
                <a:cs typeface="Cambria"/>
              </a:rPr>
              <a:t>]</a:t>
            </a:r>
            <a:r>
              <a:rPr dirty="0" sz="1800">
                <a:solidFill>
                  <a:srgbClr val="E6E6E6"/>
                </a:solidFill>
                <a:latin typeface="Cambria"/>
                <a:cs typeface="Cambria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change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32909" y="6427170"/>
            <a:ext cx="5894070" cy="75882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3807460">
              <a:lnSpc>
                <a:spcPct val="100000"/>
              </a:lnSpc>
              <a:spcBef>
                <a:spcPts val="760"/>
              </a:spcBef>
              <a:tabLst>
                <a:tab pos="4070350" algn="l"/>
              </a:tabLst>
            </a:pPr>
            <a:r>
              <a:rPr dirty="0" sz="2000" spc="-50">
                <a:solidFill>
                  <a:srgbClr val="FFFFFF"/>
                </a:solidFill>
                <a:latin typeface="Cambria"/>
                <a:cs typeface="Cambria"/>
              </a:rPr>
              <a:t>$</a:t>
            </a:r>
            <a:r>
              <a:rPr dirty="0" sz="2000">
                <a:solidFill>
                  <a:srgbClr val="FFFFFF"/>
                </a:solidFill>
                <a:latin typeface="Cambria"/>
                <a:cs typeface="Cambria"/>
              </a:rPr>
              <a:t>	.</a:t>
            </a:r>
            <a:r>
              <a:rPr dirty="0" sz="2000" spc="-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FFFFFF"/>
                </a:solidFill>
                <a:latin typeface="Cambria"/>
                <a:cs typeface="Cambria"/>
              </a:rPr>
              <a:t>/device</a:t>
            </a:r>
            <a:r>
              <a:rPr dirty="0" sz="2000" spc="2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Cambria"/>
                <a:cs typeface="Cambria"/>
              </a:rPr>
              <a:t>noVitor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  <a:tabLst>
                <a:tab pos="2182495" algn="l"/>
                <a:tab pos="2976880" algn="l"/>
                <a:tab pos="3806190" algn="l"/>
                <a:tab pos="4859655" algn="l"/>
              </a:tabLst>
            </a:pP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===</a:t>
            </a:r>
            <a:r>
              <a:rPr dirty="0" sz="1800" spc="4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Device</a:t>
            </a:r>
            <a:r>
              <a:rPr dirty="0" sz="1800" spc="43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Ponztor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40">
                <a:solidFill>
                  <a:srgbClr val="FFFFFF"/>
                </a:solidFill>
                <a:latin typeface="Cambria"/>
                <a:cs typeface="Cambria"/>
              </a:rPr>
              <a:t>(Press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80">
                <a:solidFill>
                  <a:srgbClr val="FFFFFF"/>
                </a:solidFill>
                <a:latin typeface="Cambria"/>
                <a:cs typeface="Cambria"/>
              </a:rPr>
              <a:t>Ctrl+C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9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800" spc="7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800" spc="70">
                <a:solidFill>
                  <a:srgbClr val="FFFFFF"/>
                </a:solidFill>
                <a:latin typeface="Cambria"/>
                <a:cs typeface="Cambria"/>
              </a:rPr>
              <a:t>stop)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60">
                <a:solidFill>
                  <a:srgbClr val="E4E4E4"/>
                </a:solidFill>
                <a:latin typeface="Cambria"/>
                <a:cs typeface="Cambria"/>
              </a:rPr>
              <a:t>---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504901" y="6548313"/>
            <a:ext cx="178181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4955" algn="l"/>
                <a:tab pos="1311275" algn="l"/>
              </a:tabLst>
            </a:pPr>
            <a:r>
              <a:rPr dirty="0" sz="1800" spc="-50">
                <a:solidFill>
                  <a:srgbClr val="FDEFFF"/>
                </a:solidFill>
                <a:latin typeface="Cambria"/>
                <a:cs typeface="Cambria"/>
              </a:rPr>
              <a:t>$</a:t>
            </a:r>
            <a:r>
              <a:rPr dirty="0" sz="1800">
                <a:solidFill>
                  <a:srgbClr val="FDEFFF"/>
                </a:solidFill>
                <a:latin typeface="Cambria"/>
                <a:cs typeface="Cambria"/>
              </a:rPr>
              <a:t>	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800" spc="-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Cambria"/>
                <a:cs typeface="Cambria"/>
              </a:rPr>
              <a:t>/driver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150">
                <a:solidFill>
                  <a:srgbClr val="FFFFFF"/>
                </a:solidFill>
                <a:latin typeface="Cambria"/>
                <a:cs typeface="Cambria"/>
              </a:rPr>
              <a:t>test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631579" y="6941865"/>
            <a:ext cx="288925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05230" algn="l"/>
                <a:tab pos="2031364" algn="l"/>
                <a:tab pos="2628265" algn="l"/>
              </a:tabLst>
            </a:pP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===</a:t>
            </a:r>
            <a:r>
              <a:rPr dirty="0" sz="1800" spc="3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LTnux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65">
                <a:solidFill>
                  <a:srgbClr val="FFFFFF"/>
                </a:solidFill>
                <a:latin typeface="Cambria"/>
                <a:cs typeface="Cambria"/>
              </a:rPr>
              <a:t>Driver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40">
                <a:solidFill>
                  <a:srgbClr val="FFFFFF"/>
                </a:solidFill>
                <a:latin typeface="Cambria"/>
                <a:cs typeface="Cambria"/>
              </a:rPr>
              <a:t>Test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---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247215" y="7882015"/>
            <a:ext cx="154178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04595" algn="l"/>
              </a:tabLst>
            </a:pPr>
            <a:r>
              <a:rPr dirty="0" sz="1800" spc="-10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dirty="0" sz="1800" spc="-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4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800" spc="-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Cambria"/>
                <a:cs typeface="Cambria"/>
              </a:rPr>
              <a:t>21</a:t>
            </a:r>
            <a:r>
              <a:rPr dirty="0" sz="1800" spc="-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-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EDEDED"/>
                </a:solidFill>
                <a:latin typeface="Cambria"/>
                <a:cs typeface="Cambria"/>
              </a:rPr>
              <a:t>03</a:t>
            </a:r>
            <a:r>
              <a:rPr dirty="0" sz="1800">
                <a:solidFill>
                  <a:srgbClr val="EDEDED"/>
                </a:solidFill>
                <a:latin typeface="Cambria"/>
                <a:cs typeface="Cambria"/>
              </a:rPr>
              <a:t>	</a:t>
            </a:r>
            <a:r>
              <a:rPr dirty="0" sz="1800" spc="-90">
                <a:solidFill>
                  <a:srgbClr val="FFFFFF"/>
                </a:solidFill>
                <a:latin typeface="Cambria"/>
                <a:cs typeface="Cambria"/>
              </a:rPr>
              <a:t>add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338304" y="7171439"/>
            <a:ext cx="5541010" cy="133731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4954270" algn="l"/>
              </a:tabLst>
            </a:pP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/devices/pci0000:</a:t>
            </a:r>
            <a:r>
              <a:rPr dirty="0" sz="1800" spc="-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800" spc="-90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800" spc="-135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mbria"/>
                <a:cs typeface="Cambria"/>
              </a:rPr>
              <a:t>0000</a:t>
            </a:r>
            <a:r>
              <a:rPr dirty="0" sz="1800" spc="8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800" spc="-60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800" spc="-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-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14.</a:t>
            </a:r>
            <a:r>
              <a:rPr dirty="0" sz="1800" spc="-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0/usb1/</a:t>
            </a:r>
            <a:r>
              <a:rPr dirty="0" sz="1800" spc="-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2F2F2"/>
                </a:solidFill>
                <a:latin typeface="Cambria"/>
                <a:cs typeface="Cambria"/>
              </a:rPr>
              <a:t>1</a:t>
            </a:r>
            <a:r>
              <a:rPr dirty="0" sz="1800">
                <a:solidFill>
                  <a:srgbClr val="E1E1E1"/>
                </a:solidFill>
                <a:latin typeface="Cambria"/>
                <a:cs typeface="Cambria"/>
              </a:rPr>
              <a:t>-</a:t>
            </a:r>
            <a:r>
              <a:rPr dirty="0" sz="1800" spc="-50">
                <a:solidFill>
                  <a:srgbClr val="E1E1E1"/>
                </a:solidFill>
                <a:latin typeface="Cambria"/>
                <a:cs typeface="Cambria"/>
              </a:rPr>
              <a:t>1</a:t>
            </a:r>
            <a:r>
              <a:rPr dirty="0" sz="1800">
                <a:solidFill>
                  <a:srgbClr val="E1E1E1"/>
                </a:solidFill>
                <a:latin typeface="Cambria"/>
                <a:cs typeface="Cambria"/>
              </a:rPr>
              <a:t>	</a:t>
            </a: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(usb)</a:t>
            </a:r>
            <a:endParaRPr sz="1800">
              <a:latin typeface="Cambria"/>
              <a:cs typeface="Cambria"/>
            </a:endParaRPr>
          </a:p>
          <a:p>
            <a:pPr marL="45085">
              <a:lnSpc>
                <a:spcPct val="100000"/>
              </a:lnSpc>
              <a:spcBef>
                <a:spcPts val="425"/>
              </a:spcBef>
              <a:tabLst>
                <a:tab pos="3488054" algn="l"/>
              </a:tabLst>
            </a:pP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/devices/virtuaI/input/znput5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75">
                <a:solidFill>
                  <a:srgbClr val="FFFFFF"/>
                </a:solidFill>
                <a:latin typeface="Cambria"/>
                <a:cs typeface="Cambria"/>
              </a:rPr>
              <a:t>(input)</a:t>
            </a:r>
            <a:endParaRPr sz="1800">
              <a:latin typeface="Cambria"/>
              <a:cs typeface="Cambria"/>
            </a:endParaRPr>
          </a:p>
          <a:p>
            <a:pPr marL="45085">
              <a:lnSpc>
                <a:spcPct val="100000"/>
              </a:lnSpc>
              <a:spcBef>
                <a:spcPts val="420"/>
              </a:spcBef>
              <a:tabLst>
                <a:tab pos="4942840" algn="l"/>
              </a:tabLst>
            </a:pP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/devices/pcz0000</a:t>
            </a:r>
            <a:r>
              <a:rPr dirty="0" sz="1800" spc="-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-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Cambria"/>
                <a:cs typeface="Cambria"/>
              </a:rPr>
              <a:t>00/0000:</a:t>
            </a:r>
            <a:r>
              <a:rPr dirty="0" sz="1800" spc="-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10">
                <a:solidFill>
                  <a:srgbClr val="F0F0F0"/>
                </a:solidFill>
                <a:latin typeface="Cambria"/>
                <a:cs typeface="Cambria"/>
              </a:rPr>
              <a:t>00</a:t>
            </a:r>
            <a:r>
              <a:rPr dirty="0" sz="1800" spc="-130">
                <a:solidFill>
                  <a:srgbClr val="F0F0F0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-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Cambria"/>
                <a:cs typeface="Cambria"/>
              </a:rPr>
              <a:t>14.</a:t>
            </a:r>
            <a:r>
              <a:rPr dirty="0" sz="1800" spc="-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0/usb1/1</a:t>
            </a:r>
            <a:r>
              <a:rPr dirty="0" sz="1800" spc="-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800" spc="-5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65">
                <a:solidFill>
                  <a:srgbClr val="FFFFFF"/>
                </a:solidFill>
                <a:latin typeface="Cambria"/>
                <a:cs typeface="Cambria"/>
              </a:rPr>
              <a:t>(usb)</a:t>
            </a:r>
            <a:endParaRPr sz="1800">
              <a:latin typeface="Cambria"/>
              <a:cs typeface="Cambria"/>
            </a:endParaRPr>
          </a:p>
          <a:p>
            <a:pPr marL="45085">
              <a:lnSpc>
                <a:spcPct val="100000"/>
              </a:lnSpc>
              <a:spcBef>
                <a:spcPts val="425"/>
              </a:spcBef>
              <a:tabLst>
                <a:tab pos="4942840" algn="l"/>
              </a:tabLst>
            </a:pP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/devzces/pci0000</a:t>
            </a:r>
            <a:r>
              <a:rPr dirty="0" sz="1800" spc="-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-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Cambria"/>
                <a:cs typeface="Cambria"/>
              </a:rPr>
              <a:t>00/0000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 :</a:t>
            </a:r>
            <a:r>
              <a:rPr dirty="0" sz="1800" spc="-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10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800" spc="-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 spc="-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Cambria"/>
                <a:cs typeface="Cambria"/>
              </a:rPr>
              <a:t>14.</a:t>
            </a:r>
            <a:r>
              <a:rPr dirty="0" sz="1800" spc="-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Cambria"/>
                <a:cs typeface="Cambria"/>
              </a:rPr>
              <a:t>0/usb1/1</a:t>
            </a:r>
            <a:r>
              <a:rPr dirty="0" sz="1800" spc="-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800" spc="-5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110">
                <a:solidFill>
                  <a:srgbClr val="232323"/>
                </a:solidFill>
                <a:latin typeface="Cambria"/>
                <a:cs typeface="Cambria"/>
              </a:rPr>
              <a:t>(</a:t>
            </a:r>
            <a:r>
              <a:rPr dirty="0" sz="1800" spc="-35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1800" spc="-229">
                <a:solidFill>
                  <a:srgbClr val="FFFFFF"/>
                </a:solidFill>
                <a:latin typeface="Cambria"/>
                <a:cs typeface="Cambria"/>
              </a:rPr>
              <a:t>u</a:t>
            </a:r>
            <a:r>
              <a:rPr dirty="0" sz="1800" spc="-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25">
                <a:solidFill>
                  <a:srgbClr val="FFFFFF"/>
                </a:solidFill>
                <a:latin typeface="Cambria"/>
                <a:cs typeface="Cambria"/>
              </a:rPr>
              <a:t>sb)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642852" y="7258892"/>
            <a:ext cx="570293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16280" algn="l"/>
                <a:tab pos="1673225" algn="l"/>
                <a:tab pos="2028189" algn="l"/>
                <a:tab pos="2625090" algn="l"/>
                <a:tab pos="2967355" algn="l"/>
                <a:tab pos="3940175" algn="l"/>
                <a:tab pos="4670425" algn="l"/>
                <a:tab pos="5246370" algn="l"/>
                <a:tab pos="5528945" algn="l"/>
              </a:tabLst>
            </a:pPr>
            <a:r>
              <a:rPr dirty="0" sz="1800" spc="-215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dirty="0" sz="1800" spc="-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F0F0F0"/>
                </a:solidFill>
                <a:latin typeface="Cambria"/>
                <a:cs typeface="Cambria"/>
              </a:rPr>
              <a:t>ter</a:t>
            </a:r>
            <a:r>
              <a:rPr dirty="0" sz="1800">
                <a:solidFill>
                  <a:srgbClr val="F0F0F0"/>
                </a:solidFill>
                <a:latin typeface="Cambria"/>
                <a:cs typeface="Cambria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messag</a:t>
            </a:r>
            <a:r>
              <a:rPr dirty="0" sz="1800" spc="-10">
                <a:solidFill>
                  <a:srgbClr val="F2F2F2"/>
                </a:solidFill>
                <a:latin typeface="Cambria"/>
                <a:cs typeface="Cambria"/>
              </a:rPr>
              <a:t>e</a:t>
            </a:r>
            <a:r>
              <a:rPr dirty="0" sz="1800">
                <a:solidFill>
                  <a:srgbClr val="F2F2F2"/>
                </a:solidFill>
                <a:latin typeface="Cambria"/>
                <a:cs typeface="Cambria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Cambria"/>
                <a:cs typeface="Cambria"/>
              </a:rPr>
              <a:t>send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25">
                <a:solidFill>
                  <a:srgbClr val="F6F6F6"/>
                </a:solidFill>
                <a:latin typeface="Cambria"/>
                <a:cs typeface="Cambria"/>
              </a:rPr>
              <a:t>to</a:t>
            </a:r>
            <a:r>
              <a:rPr dirty="0" sz="1800">
                <a:solidFill>
                  <a:srgbClr val="F6F6F6"/>
                </a:solidFill>
                <a:latin typeface="Cambria"/>
                <a:cs typeface="Cambria"/>
              </a:rPr>
              <a:t>	</a:t>
            </a:r>
            <a:r>
              <a:rPr dirty="0" sz="1800" spc="120">
                <a:solidFill>
                  <a:srgbClr val="FFFFFF"/>
                </a:solidFill>
                <a:latin typeface="Cambria"/>
                <a:cs typeface="Cambria"/>
              </a:rPr>
              <a:t>driver</a:t>
            </a:r>
            <a:r>
              <a:rPr dirty="0" sz="1800" spc="-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25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55">
                <a:solidFill>
                  <a:srgbClr val="002D00"/>
                </a:solidFill>
                <a:latin typeface="Cambria"/>
                <a:cs typeface="Cambria"/>
              </a:rPr>
              <a:t>-</a:t>
            </a:r>
            <a:r>
              <a:rPr dirty="0" sz="1800" spc="-25">
                <a:solidFill>
                  <a:srgbClr val="002D00"/>
                </a:solidFill>
                <a:latin typeface="Cambria"/>
                <a:cs typeface="Cambria"/>
              </a:rPr>
              <a:t>.c</a:t>
            </a:r>
            <a:r>
              <a:rPr dirty="0" sz="1800">
                <a:solidFill>
                  <a:srgbClr val="002D00"/>
                </a:solidFill>
                <a:latin typeface="Cambria"/>
                <a:cs typeface="Cambria"/>
              </a:rPr>
              <a:t>	</a:t>
            </a:r>
            <a:r>
              <a:rPr dirty="0" sz="1800" spc="-270">
                <a:solidFill>
                  <a:srgbClr val="525252"/>
                </a:solidFill>
                <a:latin typeface="Cambria"/>
                <a:cs typeface="Cambria"/>
              </a:rPr>
              <a:t>t</a:t>
            </a:r>
            <a:r>
              <a:rPr dirty="0" sz="1800" spc="170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5DC454"/>
                </a:solidFill>
                <a:latin typeface="Cambria"/>
                <a:cs typeface="Cambria"/>
              </a:rPr>
              <a:t>’</a:t>
            </a:r>
            <a:r>
              <a:rPr dirty="0" sz="1800" spc="35">
                <a:solidFill>
                  <a:srgbClr val="5DC454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001A00"/>
                </a:solidFill>
                <a:latin typeface="Cambria"/>
                <a:cs typeface="Cambria"/>
              </a:rPr>
              <a:t>c'</a:t>
            </a:r>
            <a:r>
              <a:rPr dirty="0" sz="1800">
                <a:solidFill>
                  <a:srgbClr val="001A00"/>
                </a:solidFill>
                <a:latin typeface="Cambria"/>
                <a:cs typeface="Cambria"/>
              </a:rPr>
              <a:t>	</a:t>
            </a:r>
            <a:r>
              <a:rPr dirty="0" sz="1800" spc="-50">
                <a:solidFill>
                  <a:srgbClr val="6EB549"/>
                </a:solidFill>
                <a:latin typeface="Cambria"/>
                <a:cs typeface="Cambria"/>
              </a:rPr>
              <a:t>:</a:t>
            </a:r>
            <a:r>
              <a:rPr dirty="0" sz="1800">
                <a:solidFill>
                  <a:srgbClr val="6EB549"/>
                </a:solidFill>
                <a:latin typeface="Cambria"/>
                <a:cs typeface="Cambria"/>
              </a:rPr>
              <a:t>	</a:t>
            </a:r>
            <a:r>
              <a:rPr dirty="0" sz="1800" spc="50">
                <a:solidFill>
                  <a:srgbClr val="001C00"/>
                </a:solidFill>
                <a:latin typeface="Cambria"/>
                <a:cs typeface="Cambria"/>
              </a:rPr>
              <a:t>°</a:t>
            </a:r>
            <a:r>
              <a:rPr dirty="0" sz="1800" spc="50">
                <a:solidFill>
                  <a:srgbClr val="2A6B08"/>
                </a:solidFill>
                <a:latin typeface="Cambria"/>
                <a:cs typeface="Cambria"/>
              </a:rPr>
              <a:t>'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631915" y="7532192"/>
            <a:ext cx="5414645" cy="97663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434"/>
              </a:spcBef>
              <a:tabLst>
                <a:tab pos="988694" algn="l"/>
                <a:tab pos="1585595" algn="l"/>
                <a:tab pos="1939289" algn="l"/>
              </a:tabLst>
            </a:pPr>
            <a:r>
              <a:rPr dirty="0" sz="1800" spc="95">
                <a:solidFill>
                  <a:srgbClr val="FFFFFF"/>
                </a:solidFill>
                <a:latin typeface="Cambria"/>
                <a:cs typeface="Cambria"/>
              </a:rPr>
              <a:t>les</a:t>
            </a: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35">
                <a:solidFill>
                  <a:srgbClr val="FFFFFF"/>
                </a:solidFill>
                <a:latin typeface="Cambria"/>
                <a:cs typeface="Cambria"/>
              </a:rPr>
              <a:t>sag</a:t>
            </a:r>
            <a:r>
              <a:rPr dirty="0" sz="1800" spc="35">
                <a:solidFill>
                  <a:srgbClr val="EBEBEB"/>
                </a:solidFill>
                <a:latin typeface="Cambria"/>
                <a:cs typeface="Cambria"/>
              </a:rPr>
              <a:t>e</a:t>
            </a:r>
            <a:r>
              <a:rPr dirty="0" sz="1800">
                <a:solidFill>
                  <a:srgbClr val="EBEBEB"/>
                </a:solidFill>
                <a:latin typeface="Cambria"/>
                <a:cs typeface="Cambria"/>
              </a:rPr>
              <a:t>	</a:t>
            </a:r>
            <a:r>
              <a:rPr dirty="0" sz="1800" spc="40">
                <a:solidFill>
                  <a:srgbClr val="FFFFFF"/>
                </a:solidFill>
                <a:latin typeface="Cambria"/>
                <a:cs typeface="Cambria"/>
              </a:rPr>
              <a:t>sent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35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120">
                <a:solidFill>
                  <a:srgbClr val="FFFFFF"/>
                </a:solidFill>
                <a:latin typeface="Cambria"/>
                <a:cs typeface="Cambria"/>
              </a:rPr>
              <a:t>driver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 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  <a:tabLst>
                <a:tab pos="989965" algn="l"/>
                <a:tab pos="2073275" algn="l"/>
                <a:tab pos="2672080" algn="l"/>
              </a:tabLst>
            </a:pP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Reading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response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120">
                <a:solidFill>
                  <a:srgbClr val="FFFFFF"/>
                </a:solidFill>
                <a:latin typeface="Cambria"/>
                <a:cs typeface="Cambria"/>
              </a:rPr>
              <a:t>driver</a:t>
            </a:r>
            <a:r>
              <a:rPr dirty="0" sz="1800" spc="-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8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8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869950" algn="l"/>
                <a:tab pos="2058035" algn="l"/>
                <a:tab pos="3995420" algn="l"/>
                <a:tab pos="5217160" algn="l"/>
              </a:tabLst>
            </a:pPr>
            <a:r>
              <a:rPr dirty="0" sz="1800" spc="-60">
                <a:solidFill>
                  <a:srgbClr val="FFFFFF"/>
                </a:solidFill>
                <a:latin typeface="Cambria"/>
                <a:cs typeface="Cambria"/>
              </a:rPr>
              <a:t>Dr</a:t>
            </a:r>
            <a:r>
              <a:rPr dirty="0" sz="1800" spc="-2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iver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response</a:t>
            </a:r>
            <a:r>
              <a:rPr dirty="0" sz="1800" spc="3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>
                <a:solidFill>
                  <a:srgbClr val="E6E6E6"/>
                </a:solidFill>
                <a:latin typeface="Cambria"/>
                <a:cs typeface="Cambria"/>
              </a:rPr>
              <a:t>C</a:t>
            </a:r>
            <a:r>
              <a:rPr dirty="0" sz="1800">
                <a:solidFill>
                  <a:srgbClr val="E8E8E8"/>
                </a:solidFill>
                <a:latin typeface="Cambria"/>
                <a:cs typeface="Cambria"/>
              </a:rPr>
              <a:t>+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800" spc="7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apps</a:t>
            </a:r>
            <a:r>
              <a:rPr dirty="0" sz="1800" spc="-2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ica</a:t>
            </a:r>
            <a:r>
              <a:rPr dirty="0" sz="18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7F7F7"/>
                </a:solidFill>
                <a:latin typeface="Cambria"/>
                <a:cs typeface="Cambria"/>
              </a:rPr>
              <a:t>t</a:t>
            </a:r>
            <a:r>
              <a:rPr dirty="0" sz="1800" spc="-70">
                <a:solidFill>
                  <a:srgbClr val="F7F7F7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800" spc="-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10">
                <a:solidFill>
                  <a:srgbClr val="FFFFFF"/>
                </a:solidFill>
                <a:latin typeface="Cambria"/>
                <a:cs typeface="Cambria"/>
              </a:rPr>
              <a:t>conne</a:t>
            </a:r>
            <a:r>
              <a:rPr dirty="0" sz="1800" spc="10">
                <a:solidFill>
                  <a:srgbClr val="EFEFEF"/>
                </a:solidFill>
                <a:latin typeface="Cambria"/>
                <a:cs typeface="Cambria"/>
              </a:rPr>
              <a:t>c</a:t>
            </a:r>
            <a:r>
              <a:rPr dirty="0" sz="1800" spc="-145">
                <a:solidFill>
                  <a:srgbClr val="EFEFEF"/>
                </a:solidFill>
                <a:latin typeface="Cambria"/>
                <a:cs typeface="Cambria"/>
              </a:rPr>
              <a:t> </a:t>
            </a:r>
            <a:r>
              <a:rPr dirty="0" sz="1800" spc="10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r>
              <a:rPr dirty="0" sz="1800" spc="-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ed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35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188311" y="8209975"/>
            <a:ext cx="145923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5965" algn="l"/>
              </a:tabLst>
            </a:pP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Lin</a:t>
            </a:r>
            <a:r>
              <a:rPr dirty="0" sz="1800" spc="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29">
                <a:solidFill>
                  <a:srgbClr val="FFFFFF"/>
                </a:solidFill>
                <a:latin typeface="Cambria"/>
                <a:cs typeface="Cambria"/>
              </a:rPr>
              <a:t>u</a:t>
            </a:r>
            <a:r>
              <a:rPr dirty="0" sz="1800" spc="-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mbria"/>
                <a:cs typeface="Cambria"/>
              </a:rPr>
              <a:t>x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800" spc="-60">
                <a:solidFill>
                  <a:srgbClr val="FFFFFF"/>
                </a:solidFill>
                <a:latin typeface="Cambria"/>
                <a:cs typeface="Cambria"/>
              </a:rPr>
              <a:t>dr</a:t>
            </a:r>
            <a:r>
              <a:rPr dirty="0" sz="1800" spc="-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dirty="0" sz="18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ver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57019" y="8553118"/>
            <a:ext cx="2094864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74980" algn="l"/>
                <a:tab pos="712470" algn="l"/>
                <a:tab pos="1067435" algn="l"/>
              </a:tabLst>
            </a:pPr>
            <a:r>
              <a:rPr dirty="0" sz="1650" spc="-25">
                <a:solidFill>
                  <a:srgbClr val="247B23"/>
                </a:solidFill>
                <a:latin typeface="Cambria"/>
                <a:cs typeface="Cambria"/>
              </a:rPr>
              <a:t>Art</a:t>
            </a:r>
            <a:r>
              <a:rPr dirty="0" sz="1650">
                <a:solidFill>
                  <a:srgbClr val="247B23"/>
                </a:solidFill>
                <a:latin typeface="Cambria"/>
                <a:cs typeface="Cambria"/>
              </a:rPr>
              <a:t>	</a:t>
            </a:r>
            <a:r>
              <a:rPr dirty="0" sz="1650" spc="-50">
                <a:solidFill>
                  <a:srgbClr val="001600"/>
                </a:solidFill>
                <a:latin typeface="Cambria"/>
                <a:cs typeface="Cambria"/>
              </a:rPr>
              <a:t>a</a:t>
            </a:r>
            <a:r>
              <a:rPr dirty="0" sz="1650">
                <a:solidFill>
                  <a:srgbClr val="001600"/>
                </a:solidFill>
                <a:latin typeface="Cambria"/>
                <a:cs typeface="Cambria"/>
              </a:rPr>
              <a:t>	</a:t>
            </a:r>
            <a:r>
              <a:rPr dirty="0" sz="1650" spc="50">
                <a:solidFill>
                  <a:srgbClr val="001600"/>
                </a:solidFill>
                <a:latin typeface="Cambria"/>
                <a:cs typeface="Cambria"/>
              </a:rPr>
              <a:t>S</a:t>
            </a:r>
            <a:r>
              <a:rPr dirty="0" sz="1650" spc="50">
                <a:solidFill>
                  <a:srgbClr val="002A00"/>
                </a:solidFill>
                <a:latin typeface="Cambria"/>
                <a:cs typeface="Cambria"/>
              </a:rPr>
              <a:t>a</a:t>
            </a:r>
            <a:r>
              <a:rPr dirty="0" sz="1650">
                <a:solidFill>
                  <a:srgbClr val="002A00"/>
                </a:solidFill>
                <a:latin typeface="Cambria"/>
                <a:cs typeface="Cambria"/>
              </a:rPr>
              <a:t>	</a:t>
            </a:r>
            <a:r>
              <a:rPr dirty="0" sz="1650" spc="50">
                <a:solidFill>
                  <a:srgbClr val="002600"/>
                </a:solidFill>
                <a:latin typeface="Cambria"/>
                <a:cs typeface="Cambria"/>
              </a:rPr>
              <a:t>la</a:t>
            </a:r>
            <a:r>
              <a:rPr dirty="0" sz="1650" spc="190">
                <a:solidFill>
                  <a:srgbClr val="002600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0F4808"/>
                </a:solidFill>
                <a:latin typeface="Cambria"/>
                <a:cs typeface="Cambria"/>
              </a:rPr>
              <a:t>-</a:t>
            </a:r>
            <a:r>
              <a:rPr dirty="0" sz="1650" spc="-114">
                <a:solidFill>
                  <a:srgbClr val="0F4808"/>
                </a:solidFill>
                <a:latin typeface="Cambria"/>
                <a:cs typeface="Cambria"/>
              </a:rPr>
              <a:t> </a:t>
            </a:r>
            <a:r>
              <a:rPr dirty="0" sz="1650" spc="-204">
                <a:solidFill>
                  <a:srgbClr val="002A00"/>
                </a:solidFill>
                <a:latin typeface="Cambria"/>
                <a:cs typeface="Cambria"/>
              </a:rPr>
              <a:t>L</a:t>
            </a:r>
            <a:r>
              <a:rPr dirty="0" sz="1650" spc="-75">
                <a:solidFill>
                  <a:srgbClr val="002A00"/>
                </a:solidFill>
                <a:latin typeface="Cambria"/>
                <a:cs typeface="Cambria"/>
              </a:rPr>
              <a:t> </a:t>
            </a:r>
            <a:r>
              <a:rPr dirty="0" sz="1650" spc="-125">
                <a:solidFill>
                  <a:srgbClr val="005700"/>
                </a:solidFill>
                <a:latin typeface="Cambria"/>
                <a:cs typeface="Cambria"/>
              </a:rPr>
              <a:t>T</a:t>
            </a:r>
            <a:r>
              <a:rPr dirty="0" sz="1650" spc="-125">
                <a:solidFill>
                  <a:srgbClr val="002100"/>
                </a:solidFill>
                <a:latin typeface="Cambria"/>
                <a:cs typeface="Cambria"/>
              </a:rPr>
              <a:t>nu </a:t>
            </a:r>
            <a:r>
              <a:rPr dirty="0" sz="1650">
                <a:solidFill>
                  <a:srgbClr val="8ED187"/>
                </a:solidFill>
                <a:latin typeface="Cambria"/>
                <a:cs typeface="Cambria"/>
              </a:rPr>
              <a:t>x</a:t>
            </a:r>
            <a:r>
              <a:rPr dirty="0" sz="1650" spc="30">
                <a:solidFill>
                  <a:srgbClr val="8ED187"/>
                </a:solidFill>
                <a:latin typeface="Cambria"/>
                <a:cs typeface="Cambria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Cambria"/>
                <a:cs typeface="Cambria"/>
              </a:rPr>
              <a:t>'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0" y="9193800"/>
            <a:ext cx="18277205" cy="339090"/>
          </a:xfrm>
          <a:custGeom>
            <a:avLst/>
            <a:gdLst/>
            <a:ahLst/>
            <a:cxnLst/>
            <a:rect l="l" t="t" r="r" b="b"/>
            <a:pathLst>
              <a:path w="18277205" h="339090">
                <a:moveTo>
                  <a:pt x="18277058" y="338891"/>
                </a:moveTo>
                <a:lnTo>
                  <a:pt x="0" y="338891"/>
                </a:lnTo>
                <a:lnTo>
                  <a:pt x="0" y="0"/>
                </a:lnTo>
                <a:lnTo>
                  <a:pt x="18277058" y="0"/>
                </a:lnTo>
                <a:lnTo>
                  <a:pt x="18277058" y="338891"/>
                </a:lnTo>
                <a:close/>
              </a:path>
            </a:pathLst>
          </a:custGeom>
          <a:solidFill>
            <a:srgbClr val="003B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3761618" y="9170168"/>
            <a:ext cx="219075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35">
                <a:solidFill>
                  <a:srgbClr val="FFFFFF"/>
                </a:solidFill>
                <a:latin typeface="Arial MT"/>
                <a:cs typeface="Arial MT"/>
              </a:rPr>
              <a:t>Device</a:t>
            </a:r>
            <a:r>
              <a:rPr dirty="0" sz="215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667EB6"/>
                </a:solidFill>
                <a:latin typeface="Arial MT"/>
                <a:cs typeface="Arial MT"/>
              </a:rPr>
              <a:t>Monitoring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2360909" y="9185351"/>
            <a:ext cx="213360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0A387B"/>
                </a:solidFill>
                <a:latin typeface="Arial MT"/>
                <a:cs typeface="Arial MT"/>
              </a:rPr>
              <a:t>Kernel</a:t>
            </a:r>
            <a:r>
              <a:rPr dirty="0" sz="2000" spc="210">
                <a:solidFill>
                  <a:srgbClr val="0A387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3D8A"/>
                </a:solidFill>
                <a:latin typeface="Arial MT"/>
                <a:cs typeface="Arial MT"/>
              </a:rPr>
              <a:t>Driver</a:t>
            </a:r>
            <a:r>
              <a:rPr dirty="0" sz="2000" spc="305">
                <a:solidFill>
                  <a:srgbClr val="1F3D8A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5769BC"/>
                </a:solidFill>
                <a:latin typeface="Arial MT"/>
                <a:cs typeface="Arial MT"/>
              </a:rPr>
              <a:t>Test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9594" rIns="0" bIns="0" rtlCol="0" vert="horz">
            <a:spAutoFit/>
          </a:bodyPr>
          <a:lstStyle/>
          <a:p>
            <a:pPr marL="2790190">
              <a:lnSpc>
                <a:spcPct val="100000"/>
              </a:lnSpc>
              <a:spcBef>
                <a:spcPts val="105"/>
              </a:spcBef>
            </a:pPr>
            <a:r>
              <a:rPr dirty="0" spc="-430"/>
              <a:t>CONCLUSION</a:t>
            </a:r>
            <a:r>
              <a:rPr dirty="0" spc="-975"/>
              <a:t> </a:t>
            </a:r>
            <a:r>
              <a:rPr dirty="0" spc="-825"/>
              <a:t>&amp;</a:t>
            </a:r>
            <a:r>
              <a:rPr dirty="0" spc="-969"/>
              <a:t> </a:t>
            </a:r>
            <a:r>
              <a:rPr dirty="0" spc="-690"/>
              <a:t>FUTURE</a:t>
            </a:r>
            <a:r>
              <a:rPr dirty="0" spc="-975"/>
              <a:t> </a:t>
            </a:r>
            <a:r>
              <a:rPr dirty="0" spc="-450"/>
              <a:t>SCOPE</a:t>
            </a:r>
          </a:p>
        </p:txBody>
      </p:sp>
      <p:sp>
        <p:nvSpPr>
          <p:cNvPr id="2" name="object 2"/>
          <p:cNvSpPr/>
          <p:nvPr/>
        </p:nvSpPr>
        <p:spPr>
          <a:xfrm>
            <a:off x="0" y="2621915"/>
            <a:ext cx="2914650" cy="385445"/>
          </a:xfrm>
          <a:custGeom>
            <a:avLst/>
            <a:gdLst/>
            <a:ahLst/>
            <a:cxnLst/>
            <a:rect l="l" t="t" r="r" b="b"/>
            <a:pathLst>
              <a:path w="2914650" h="385444">
                <a:moveTo>
                  <a:pt x="2398852" y="271132"/>
                </a:moveTo>
                <a:lnTo>
                  <a:pt x="0" y="271132"/>
                </a:lnTo>
                <a:lnTo>
                  <a:pt x="0" y="309117"/>
                </a:lnTo>
                <a:lnTo>
                  <a:pt x="18142" y="309117"/>
                </a:lnTo>
                <a:lnTo>
                  <a:pt x="0" y="327344"/>
                </a:lnTo>
                <a:lnTo>
                  <a:pt x="0" y="384977"/>
                </a:lnTo>
                <a:lnTo>
                  <a:pt x="74205" y="310426"/>
                </a:lnTo>
                <a:lnTo>
                  <a:pt x="2398852" y="310426"/>
                </a:lnTo>
                <a:lnTo>
                  <a:pt x="2398852" y="271132"/>
                </a:lnTo>
                <a:close/>
              </a:path>
              <a:path w="2914650" h="385444">
                <a:moveTo>
                  <a:pt x="2813443" y="0"/>
                </a:moveTo>
                <a:lnTo>
                  <a:pt x="2773681" y="8185"/>
                </a:lnTo>
                <a:lnTo>
                  <a:pt x="2741739" y="30124"/>
                </a:lnTo>
                <a:lnTo>
                  <a:pt x="2718452" y="66966"/>
                </a:lnTo>
                <a:lnTo>
                  <a:pt x="2714325" y="81330"/>
                </a:lnTo>
                <a:lnTo>
                  <a:pt x="1145798" y="81330"/>
                </a:lnTo>
                <a:lnTo>
                  <a:pt x="956866" y="271132"/>
                </a:lnTo>
                <a:lnTo>
                  <a:pt x="1011624" y="271132"/>
                </a:lnTo>
                <a:lnTo>
                  <a:pt x="1162864" y="120497"/>
                </a:lnTo>
                <a:lnTo>
                  <a:pt x="2752517" y="120497"/>
                </a:lnTo>
                <a:lnTo>
                  <a:pt x="2750763" y="114650"/>
                </a:lnTo>
                <a:lnTo>
                  <a:pt x="2749562" y="102171"/>
                </a:lnTo>
                <a:lnTo>
                  <a:pt x="2750763" y="89684"/>
                </a:lnTo>
                <a:lnTo>
                  <a:pt x="2777306" y="49795"/>
                </a:lnTo>
                <a:lnTo>
                  <a:pt x="2812148" y="39293"/>
                </a:lnTo>
                <a:lnTo>
                  <a:pt x="2892753" y="39293"/>
                </a:lnTo>
                <a:lnTo>
                  <a:pt x="2885147" y="30124"/>
                </a:lnTo>
                <a:lnTo>
                  <a:pt x="2870095" y="17680"/>
                </a:lnTo>
                <a:lnTo>
                  <a:pt x="2852719" y="8185"/>
                </a:lnTo>
                <a:lnTo>
                  <a:pt x="2833632" y="2128"/>
                </a:lnTo>
                <a:lnTo>
                  <a:pt x="2813443" y="0"/>
                </a:lnTo>
                <a:close/>
              </a:path>
              <a:path w="2914650" h="385444">
                <a:moveTo>
                  <a:pt x="2752517" y="120497"/>
                </a:moveTo>
                <a:lnTo>
                  <a:pt x="2714358" y="120497"/>
                </a:lnTo>
                <a:lnTo>
                  <a:pt x="2717718" y="135708"/>
                </a:lnTo>
                <a:lnTo>
                  <a:pt x="2741739" y="174205"/>
                </a:lnTo>
                <a:lnTo>
                  <a:pt x="2774167" y="196145"/>
                </a:lnTo>
                <a:lnTo>
                  <a:pt x="2813443" y="204330"/>
                </a:lnTo>
                <a:lnTo>
                  <a:pt x="2834184" y="202202"/>
                </a:lnTo>
                <a:lnTo>
                  <a:pt x="2853210" y="196145"/>
                </a:lnTo>
                <a:lnTo>
                  <a:pt x="2870279" y="186649"/>
                </a:lnTo>
                <a:lnTo>
                  <a:pt x="2885147" y="174205"/>
                </a:lnTo>
                <a:lnTo>
                  <a:pt x="2892660" y="165036"/>
                </a:lnTo>
                <a:lnTo>
                  <a:pt x="2812148" y="165036"/>
                </a:lnTo>
                <a:lnTo>
                  <a:pt x="2799718" y="163828"/>
                </a:lnTo>
                <a:lnTo>
                  <a:pt x="2760010" y="137161"/>
                </a:lnTo>
                <a:lnTo>
                  <a:pt x="2754286" y="126396"/>
                </a:lnTo>
                <a:lnTo>
                  <a:pt x="2752517" y="120497"/>
                </a:lnTo>
                <a:close/>
              </a:path>
              <a:path w="2914650" h="385444">
                <a:moveTo>
                  <a:pt x="2892753" y="39293"/>
                </a:moveTo>
                <a:lnTo>
                  <a:pt x="2812148" y="39293"/>
                </a:lnTo>
                <a:lnTo>
                  <a:pt x="2824570" y="40501"/>
                </a:lnTo>
                <a:lnTo>
                  <a:pt x="2836262" y="44043"/>
                </a:lnTo>
                <a:lnTo>
                  <a:pt x="2869996" y="77935"/>
                </a:lnTo>
                <a:lnTo>
                  <a:pt x="2874721" y="102171"/>
                </a:lnTo>
                <a:lnTo>
                  <a:pt x="2873519" y="114650"/>
                </a:lnTo>
                <a:lnTo>
                  <a:pt x="2846977" y="154535"/>
                </a:lnTo>
                <a:lnTo>
                  <a:pt x="2812148" y="165036"/>
                </a:lnTo>
                <a:lnTo>
                  <a:pt x="2892660" y="165036"/>
                </a:lnTo>
                <a:lnTo>
                  <a:pt x="2897539" y="159082"/>
                </a:lnTo>
                <a:lnTo>
                  <a:pt x="2906994" y="141627"/>
                </a:lnTo>
                <a:lnTo>
                  <a:pt x="2913026" y="122452"/>
                </a:lnTo>
                <a:lnTo>
                  <a:pt x="2914649" y="106912"/>
                </a:lnTo>
                <a:lnTo>
                  <a:pt x="2914649" y="97299"/>
                </a:lnTo>
                <a:lnTo>
                  <a:pt x="2913026" y="81330"/>
                </a:lnTo>
                <a:lnTo>
                  <a:pt x="2906994" y="62214"/>
                </a:lnTo>
                <a:lnTo>
                  <a:pt x="2897539" y="45064"/>
                </a:lnTo>
                <a:lnTo>
                  <a:pt x="2892753" y="39293"/>
                </a:lnTo>
                <a:close/>
              </a:path>
            </a:pathLst>
          </a:custGeom>
          <a:solidFill>
            <a:srgbClr val="40AAE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830660" y="3593172"/>
            <a:ext cx="125730" cy="4488180"/>
            <a:chOff x="830660" y="3593172"/>
            <a:chExt cx="125730" cy="4488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660" y="3593172"/>
              <a:ext cx="125103" cy="1250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0660" y="4077944"/>
              <a:ext cx="125103" cy="1251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0660" y="4562716"/>
              <a:ext cx="125103" cy="1251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660" y="5047500"/>
              <a:ext cx="125103" cy="1250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660" y="6501815"/>
              <a:ext cx="125103" cy="1251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0660" y="6986587"/>
              <a:ext cx="125103" cy="1251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0660" y="7471359"/>
              <a:ext cx="125103" cy="1251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0660" y="7956143"/>
              <a:ext cx="125103" cy="12509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67754" y="2869455"/>
            <a:ext cx="14700885" cy="535813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CONCLUSION</a:t>
            </a:r>
            <a:endParaRPr sz="2800">
              <a:latin typeface="Lucida Sans Unicode"/>
              <a:cs typeface="Lucida Sans Unicode"/>
            </a:endParaRPr>
          </a:p>
          <a:p>
            <a:pPr marL="614680">
              <a:lnSpc>
                <a:spcPct val="100000"/>
              </a:lnSpc>
              <a:spcBef>
                <a:spcPts val="455"/>
              </a:spcBef>
            </a:pP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Developed</a:t>
            </a:r>
            <a:r>
              <a:rPr dirty="0" sz="2800" spc="-3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170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800" spc="-3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450">
                <a:solidFill>
                  <a:srgbClr val="EBF5FE"/>
                </a:solidFill>
                <a:latin typeface="Lucida Sans Unicode"/>
                <a:cs typeface="Lucida Sans Unicode"/>
              </a:rPr>
              <a:t>C++-</a:t>
            </a:r>
            <a:r>
              <a:rPr dirty="0" sz="2800" spc="50">
                <a:solidFill>
                  <a:srgbClr val="EBF5FE"/>
                </a:solidFill>
                <a:latin typeface="Lucida Sans Unicode"/>
                <a:cs typeface="Lucida Sans Unicode"/>
              </a:rPr>
              <a:t>based</a:t>
            </a:r>
            <a:r>
              <a:rPr dirty="0" sz="2800" spc="-3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0">
                <a:solidFill>
                  <a:srgbClr val="EBF5FE"/>
                </a:solidFill>
                <a:latin typeface="Lucida Sans Unicode"/>
                <a:cs typeface="Lucida Sans Unicode"/>
              </a:rPr>
              <a:t>Linux</a:t>
            </a:r>
            <a:r>
              <a:rPr dirty="0" sz="2800" spc="-3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7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800" spc="-3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&amp;</a:t>
            </a:r>
            <a:r>
              <a:rPr dirty="0" sz="2800" spc="-3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Process</a:t>
            </a:r>
            <a:r>
              <a:rPr dirty="0" sz="2800" spc="-3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55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800" spc="-3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Tool.</a:t>
            </a:r>
            <a:endParaRPr sz="2800">
              <a:latin typeface="Lucida Sans Unicode"/>
              <a:cs typeface="Lucida Sans Unicode"/>
            </a:endParaRPr>
          </a:p>
          <a:p>
            <a:pPr marL="614680">
              <a:lnSpc>
                <a:spcPct val="100000"/>
              </a:lnSpc>
              <a:spcBef>
                <a:spcPts val="455"/>
              </a:spcBef>
            </a:pP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Provides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25">
                <a:solidFill>
                  <a:srgbClr val="EBF5FE"/>
                </a:solidFill>
                <a:latin typeface="Lucida Sans Unicode"/>
                <a:cs typeface="Lucida Sans Unicode"/>
              </a:rPr>
              <a:t>centralized</a:t>
            </a:r>
            <a:r>
              <a:rPr dirty="0" sz="2800" spc="-4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45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800" spc="-4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55">
                <a:solidFill>
                  <a:srgbClr val="EBF5FE"/>
                </a:solidFill>
                <a:latin typeface="Lucida Sans Unicode"/>
                <a:cs typeface="Lucida Sans Unicode"/>
              </a:rPr>
              <a:t>of</a:t>
            </a:r>
            <a:r>
              <a:rPr dirty="0" sz="2800" spc="-4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CPU,</a:t>
            </a:r>
            <a:r>
              <a:rPr dirty="0" sz="2800" spc="-4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memory,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0">
                <a:solidFill>
                  <a:srgbClr val="EBF5FE"/>
                </a:solidFill>
                <a:latin typeface="Lucida Sans Unicode"/>
                <a:cs typeface="Lucida Sans Unicode"/>
              </a:rPr>
              <a:t>disk,</a:t>
            </a:r>
            <a:r>
              <a:rPr dirty="0" sz="2800" spc="-4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50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800" spc="-4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55">
                <a:solidFill>
                  <a:srgbClr val="EBF5FE"/>
                </a:solidFill>
                <a:latin typeface="Lucida Sans Unicode"/>
                <a:cs typeface="Lucida Sans Unicode"/>
              </a:rPr>
              <a:t>running</a:t>
            </a:r>
            <a:r>
              <a:rPr dirty="0" sz="2800" spc="-4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processes.</a:t>
            </a:r>
            <a:endParaRPr sz="2800">
              <a:latin typeface="Lucida Sans Unicode"/>
              <a:cs typeface="Lucida Sans Unicode"/>
            </a:endParaRPr>
          </a:p>
          <a:p>
            <a:pPr marL="614680" marR="5080">
              <a:lnSpc>
                <a:spcPct val="113599"/>
              </a:lnSpc>
            </a:pP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Uses</a:t>
            </a:r>
            <a:r>
              <a:rPr dirty="0" sz="28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0">
                <a:solidFill>
                  <a:srgbClr val="EBF5FE"/>
                </a:solidFill>
                <a:latin typeface="Lucida Sans Unicode"/>
                <a:cs typeface="Lucida Sans Unicode"/>
              </a:rPr>
              <a:t>Linux</a:t>
            </a:r>
            <a:r>
              <a:rPr dirty="0" sz="2800" spc="-3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8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interfaces</a:t>
            </a:r>
            <a:r>
              <a:rPr dirty="0" sz="2800" spc="-3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50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8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65">
                <a:solidFill>
                  <a:srgbClr val="EBF5FE"/>
                </a:solidFill>
                <a:latin typeface="Lucida Sans Unicode"/>
                <a:cs typeface="Lucida Sans Unicode"/>
              </a:rPr>
              <a:t>utilities</a:t>
            </a:r>
            <a:r>
              <a:rPr dirty="0" sz="2800" spc="-3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65">
                <a:solidFill>
                  <a:srgbClr val="EBF5FE"/>
                </a:solidFill>
                <a:latin typeface="Lucida Sans Unicode"/>
                <a:cs typeface="Lucida Sans Unicode"/>
              </a:rPr>
              <a:t>to</a:t>
            </a:r>
            <a:r>
              <a:rPr dirty="0" sz="28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140">
                <a:solidFill>
                  <a:srgbClr val="EBF5FE"/>
                </a:solidFill>
                <a:latin typeface="Lucida Sans Unicode"/>
                <a:cs typeface="Lucida Sans Unicode"/>
              </a:rPr>
              <a:t>co</a:t>
            </a:r>
            <a:r>
              <a:rPr dirty="0" sz="2800" spc="-29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60">
                <a:solidFill>
                  <a:srgbClr val="EBF5FE"/>
                </a:solidFill>
                <a:latin typeface="Lucida Sans Unicode"/>
                <a:cs typeface="Lucida Sans Unicode"/>
              </a:rPr>
              <a:t>lect</a:t>
            </a:r>
            <a:r>
              <a:rPr dirty="0" sz="2800" spc="-3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50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8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process</a:t>
            </a:r>
            <a:r>
              <a:rPr dirty="0" sz="2800" spc="-36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system</a:t>
            </a:r>
            <a:r>
              <a:rPr dirty="0" sz="2800" spc="-3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information. Provides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45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30">
                <a:solidFill>
                  <a:srgbClr val="EBF5FE"/>
                </a:solidFill>
                <a:latin typeface="Lucida Sans Unicode"/>
                <a:cs typeface="Lucida Sans Unicode"/>
              </a:rPr>
              <a:t>results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20">
                <a:solidFill>
                  <a:srgbClr val="EBF5FE"/>
                </a:solidFill>
                <a:latin typeface="Lucida Sans Unicode"/>
                <a:cs typeface="Lucida Sans Unicode"/>
              </a:rPr>
              <a:t>through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170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30">
                <a:solidFill>
                  <a:srgbClr val="EBF5FE"/>
                </a:solidFill>
                <a:latin typeface="Lucida Sans Unicode"/>
                <a:cs typeface="Lucida Sans Unicode"/>
              </a:rPr>
              <a:t>simple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25">
                <a:solidFill>
                  <a:srgbClr val="EBF5FE"/>
                </a:solidFill>
                <a:latin typeface="Lucida Sans Unicode"/>
                <a:cs typeface="Lucida Sans Unicode"/>
              </a:rPr>
              <a:t>command-</a:t>
            </a:r>
            <a:r>
              <a:rPr dirty="0" sz="2800" spc="-65">
                <a:solidFill>
                  <a:srgbClr val="EBF5FE"/>
                </a:solidFill>
                <a:latin typeface="Lucida Sans Unicode"/>
                <a:cs typeface="Lucida Sans Unicode"/>
              </a:rPr>
              <a:t>line</a:t>
            </a:r>
            <a:r>
              <a:rPr dirty="0" sz="2800" spc="-40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interface.</a:t>
            </a:r>
            <a:endParaRPr sz="2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275"/>
              </a:spcBef>
            </a:pPr>
            <a:r>
              <a:rPr dirty="0" sz="2800" spc="-35">
                <a:solidFill>
                  <a:srgbClr val="EBF5FE"/>
                </a:solidFill>
                <a:latin typeface="Lucida Sans Unicode"/>
                <a:cs typeface="Lucida Sans Unicode"/>
              </a:rPr>
              <a:t>FUTURE</a:t>
            </a:r>
            <a:r>
              <a:rPr dirty="0" sz="2800" spc="-42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105">
                <a:solidFill>
                  <a:srgbClr val="EBF5FE"/>
                </a:solidFill>
                <a:latin typeface="Lucida Sans Unicode"/>
                <a:cs typeface="Lucida Sans Unicode"/>
              </a:rPr>
              <a:t>SCOPE</a:t>
            </a:r>
            <a:endParaRPr sz="2800">
              <a:latin typeface="Lucida Sans Unicode"/>
              <a:cs typeface="Lucida Sans Unicode"/>
            </a:endParaRPr>
          </a:p>
          <a:p>
            <a:pPr marL="614680" marR="4443095">
              <a:lnSpc>
                <a:spcPct val="113599"/>
              </a:lnSpc>
            </a:pP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Add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170">
                <a:solidFill>
                  <a:srgbClr val="EBF5FE"/>
                </a:solidFill>
                <a:latin typeface="Lucida Sans Unicode"/>
                <a:cs typeface="Lucida Sans Unicode"/>
              </a:rPr>
              <a:t>a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graphical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user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interface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70">
                <a:solidFill>
                  <a:srgbClr val="EBF5FE"/>
                </a:solidFill>
                <a:latin typeface="Lucida Sans Unicode"/>
                <a:cs typeface="Lucida Sans Unicode"/>
              </a:rPr>
              <a:t>(GUI)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for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easier</a:t>
            </a:r>
            <a:r>
              <a:rPr dirty="0" sz="2800" spc="-40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interaction.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Introduce</a:t>
            </a:r>
            <a:r>
              <a:rPr dirty="0" sz="2800" spc="-2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35">
                <a:solidFill>
                  <a:srgbClr val="EBF5FE"/>
                </a:solidFill>
                <a:latin typeface="Lucida Sans Unicode"/>
                <a:cs typeface="Lucida Sans Unicode"/>
              </a:rPr>
              <a:t>real-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time</a:t>
            </a:r>
            <a:r>
              <a:rPr dirty="0" sz="2800" spc="-2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graphical</a:t>
            </a:r>
            <a:r>
              <a:rPr dirty="0" sz="2800" spc="-27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800" spc="-2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charts.</a:t>
            </a:r>
            <a:endParaRPr sz="2800">
              <a:latin typeface="Lucida Sans Unicode"/>
              <a:cs typeface="Lucida Sans Unicode"/>
            </a:endParaRPr>
          </a:p>
          <a:p>
            <a:pPr marL="614680">
              <a:lnSpc>
                <a:spcPct val="100000"/>
              </a:lnSpc>
              <a:spcBef>
                <a:spcPts val="459"/>
              </a:spcBef>
            </a:pP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Add</a:t>
            </a:r>
            <a:r>
              <a:rPr dirty="0" sz="280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automated</a:t>
            </a:r>
            <a:r>
              <a:rPr dirty="0" sz="280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alerts</a:t>
            </a:r>
            <a:r>
              <a:rPr dirty="0" sz="2800" spc="-3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for</a:t>
            </a:r>
            <a:r>
              <a:rPr dirty="0" sz="280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45">
                <a:solidFill>
                  <a:srgbClr val="EBF5FE"/>
                </a:solidFill>
                <a:latin typeface="Lucida Sans Unicode"/>
                <a:cs typeface="Lucida Sans Unicode"/>
              </a:rPr>
              <a:t>high</a:t>
            </a:r>
            <a:r>
              <a:rPr dirty="0" sz="2800" spc="-33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resource</a:t>
            </a:r>
            <a:r>
              <a:rPr dirty="0" sz="2800" spc="-34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utilization.</a:t>
            </a:r>
            <a:endParaRPr sz="2800">
              <a:latin typeface="Lucida Sans Unicode"/>
              <a:cs typeface="Lucida Sans Unicode"/>
            </a:endParaRPr>
          </a:p>
          <a:p>
            <a:pPr marL="614680">
              <a:lnSpc>
                <a:spcPct val="100000"/>
              </a:lnSpc>
              <a:spcBef>
                <a:spcPts val="455"/>
              </a:spcBef>
            </a:pP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Extend</a:t>
            </a:r>
            <a:r>
              <a:rPr dirty="0" sz="2800" spc="-38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45">
                <a:solidFill>
                  <a:srgbClr val="EBF5FE"/>
                </a:solidFill>
                <a:latin typeface="Lucida Sans Unicode"/>
                <a:cs typeface="Lucida Sans Unicode"/>
              </a:rPr>
              <a:t>monitoring</a:t>
            </a:r>
            <a:r>
              <a:rPr dirty="0" sz="280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50">
                <a:solidFill>
                  <a:srgbClr val="EBF5FE"/>
                </a:solidFill>
                <a:latin typeface="Lucida Sans Unicode"/>
                <a:cs typeface="Lucida Sans Unicode"/>
              </a:rPr>
              <a:t>and</a:t>
            </a:r>
            <a:r>
              <a:rPr dirty="0" sz="280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60">
                <a:solidFill>
                  <a:srgbClr val="EBF5FE"/>
                </a:solidFill>
                <a:latin typeface="Lucida Sans Unicode"/>
                <a:cs typeface="Lucida Sans Unicode"/>
              </a:rPr>
              <a:t>logging</a:t>
            </a:r>
            <a:r>
              <a:rPr dirty="0" sz="280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25">
                <a:solidFill>
                  <a:srgbClr val="EBF5FE"/>
                </a:solidFill>
                <a:latin typeface="Lucida Sans Unicode"/>
                <a:cs typeface="Lucida Sans Unicode"/>
              </a:rPr>
              <a:t>capabilities</a:t>
            </a:r>
            <a:r>
              <a:rPr dirty="0" sz="2800" spc="-380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for</a:t>
            </a:r>
            <a:r>
              <a:rPr dirty="0" sz="280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EBF5FE"/>
                </a:solidFill>
                <a:latin typeface="Lucida Sans Unicode"/>
                <a:cs typeface="Lucida Sans Unicode"/>
              </a:rPr>
              <a:t>remote</a:t>
            </a:r>
            <a:r>
              <a:rPr dirty="0" sz="2800" spc="-375">
                <a:solidFill>
                  <a:srgbClr val="EBF5FE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EBF5FE"/>
                </a:solidFill>
                <a:latin typeface="Lucida Sans Unicode"/>
                <a:cs typeface="Lucida Sans Unicode"/>
              </a:rPr>
              <a:t>systems.</a:t>
            </a:r>
            <a:endParaRPr sz="2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smitaranikhuntia2</dc:creator>
  <cp:keywords>DAHXELplls8,BAEOb5oZwF4</cp:keywords>
  <dc:title>LINUX SYSTEM &amp; PROCESS MONITORING TOOL</dc:title>
  <dcterms:created xsi:type="dcterms:W3CDTF">2026-10-05T13:49:11Z</dcterms:created>
  <dcterms:modified xsi:type="dcterms:W3CDTF">2026-10-05T13:49:11Z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2026-10-04T00:00:00Z</vt:filetime>
  </property>
  <property fmtid="{D5CDD505-2E9C-101B-9397-08002B2CF9AE}" pid="4" name="Creator">
    <vt:lpwstr>Canva</vt:lpwstr>
  </property>
  <property fmtid="{D5CDD505-2E9C-101B-9397-08002B2CF9AE}" pid="5" name="Producer">
    <vt:lpwstr>GPL Ghostscript 10.05.1</vt:lpwstr>
  </property>
  <property fmtid="{D5CDD505-2E9C-101B-9397-08002B2CF9AE}" pid="6" name="LastSaved">
    <vt:filetime>2026-10-04T00:00:00Z</vt:filetime>
  </property>
</Properties>
</file>